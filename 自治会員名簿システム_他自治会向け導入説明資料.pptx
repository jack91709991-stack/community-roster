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6" d="100"/>
          <a:sy n="46" d="100"/>
        </p:scale>
        <p:origin x="66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15F3E3-BD45-0E32-A6DE-E4DF8CF017D2}"/>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144B6B53-7E79-8FB9-E613-B5CE8B8020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6587E7F2-90A7-C7B2-0CDE-BBA9E8B7006D}"/>
              </a:ext>
            </a:extLst>
          </p:cNvPr>
          <p:cNvSpPr>
            <a:spLocks noGrp="1"/>
          </p:cNvSpPr>
          <p:nvPr>
            <p:ph type="dt" sz="half" idx="10"/>
          </p:nvPr>
        </p:nvSpPr>
        <p:spPr/>
        <p:txBody>
          <a:bodyPr/>
          <a:lstStyle/>
          <a:p>
            <a:fld id="{053BC6D3-0D27-4A2F-992C-4D5CE82F46E6}" type="datetimeFigureOut">
              <a:rPr kumimoji="1" lang="ja-JP" altLang="en-US" smtClean="0"/>
              <a:t>2026/10/3</a:t>
            </a:fld>
            <a:endParaRPr kumimoji="1" lang="ja-JP" altLang="en-US"/>
          </a:p>
        </p:txBody>
      </p:sp>
      <p:sp>
        <p:nvSpPr>
          <p:cNvPr id="5" name="フッター プレースホルダー 4">
            <a:extLst>
              <a:ext uri="{FF2B5EF4-FFF2-40B4-BE49-F238E27FC236}">
                <a16:creationId xmlns:a16="http://schemas.microsoft.com/office/drawing/2014/main" id="{59E2A58B-4071-39AF-DE0C-D5A245BC6A5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DBFFA72-EE26-1F79-6AD9-EE3D343D78A5}"/>
              </a:ext>
            </a:extLst>
          </p:cNvPr>
          <p:cNvSpPr>
            <a:spLocks noGrp="1"/>
          </p:cNvSpPr>
          <p:nvPr>
            <p:ph type="sldNum" sz="quarter" idx="12"/>
          </p:nvPr>
        </p:nvSpPr>
        <p:spPr/>
        <p:txBody>
          <a:bodyPr/>
          <a:lstStyle/>
          <a:p>
            <a:fld id="{9171147C-416B-463C-BE6B-E111A3618E7B}" type="slidenum">
              <a:rPr kumimoji="1" lang="ja-JP" altLang="en-US" smtClean="0"/>
              <a:t>‹#›</a:t>
            </a:fld>
            <a:endParaRPr kumimoji="1" lang="ja-JP" altLang="en-US"/>
          </a:p>
        </p:txBody>
      </p:sp>
    </p:spTree>
    <p:extLst>
      <p:ext uri="{BB962C8B-B14F-4D97-AF65-F5344CB8AC3E}">
        <p14:creationId xmlns:p14="http://schemas.microsoft.com/office/powerpoint/2010/main" val="11473800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96DE453-8CD9-12A5-318B-A1BD9311CCA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0E1CAA4-DC2A-83B5-FABA-69919125E3BD}"/>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B18C444-F7CA-C7B8-260F-56EEC9CFB90F}"/>
              </a:ext>
            </a:extLst>
          </p:cNvPr>
          <p:cNvSpPr>
            <a:spLocks noGrp="1"/>
          </p:cNvSpPr>
          <p:nvPr>
            <p:ph type="dt" sz="half" idx="10"/>
          </p:nvPr>
        </p:nvSpPr>
        <p:spPr/>
        <p:txBody>
          <a:bodyPr/>
          <a:lstStyle/>
          <a:p>
            <a:fld id="{053BC6D3-0D27-4A2F-992C-4D5CE82F46E6}" type="datetimeFigureOut">
              <a:rPr kumimoji="1" lang="ja-JP" altLang="en-US" smtClean="0"/>
              <a:t>2026/10/3</a:t>
            </a:fld>
            <a:endParaRPr kumimoji="1" lang="ja-JP" altLang="en-US"/>
          </a:p>
        </p:txBody>
      </p:sp>
      <p:sp>
        <p:nvSpPr>
          <p:cNvPr id="5" name="フッター プレースホルダー 4">
            <a:extLst>
              <a:ext uri="{FF2B5EF4-FFF2-40B4-BE49-F238E27FC236}">
                <a16:creationId xmlns:a16="http://schemas.microsoft.com/office/drawing/2014/main" id="{DE2EF18E-767F-373E-EE4D-B6B0B33232E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BBE2CDD-E7BF-5176-FB0A-5651F65C067D}"/>
              </a:ext>
            </a:extLst>
          </p:cNvPr>
          <p:cNvSpPr>
            <a:spLocks noGrp="1"/>
          </p:cNvSpPr>
          <p:nvPr>
            <p:ph type="sldNum" sz="quarter" idx="12"/>
          </p:nvPr>
        </p:nvSpPr>
        <p:spPr/>
        <p:txBody>
          <a:bodyPr/>
          <a:lstStyle/>
          <a:p>
            <a:fld id="{9171147C-416B-463C-BE6B-E111A3618E7B}" type="slidenum">
              <a:rPr kumimoji="1" lang="ja-JP" altLang="en-US" smtClean="0"/>
              <a:t>‹#›</a:t>
            </a:fld>
            <a:endParaRPr kumimoji="1" lang="ja-JP" altLang="en-US"/>
          </a:p>
        </p:txBody>
      </p:sp>
    </p:spTree>
    <p:extLst>
      <p:ext uri="{BB962C8B-B14F-4D97-AF65-F5344CB8AC3E}">
        <p14:creationId xmlns:p14="http://schemas.microsoft.com/office/powerpoint/2010/main" val="18686924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DD6FBD-F4EB-BC26-0E74-85AC122D2ACD}"/>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1B76561-05FD-1794-A218-AA8CE740F48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36CF68B4-2225-5B34-8A6A-51BD4A37CAB8}"/>
              </a:ext>
            </a:extLst>
          </p:cNvPr>
          <p:cNvSpPr>
            <a:spLocks noGrp="1"/>
          </p:cNvSpPr>
          <p:nvPr>
            <p:ph type="dt" sz="half" idx="10"/>
          </p:nvPr>
        </p:nvSpPr>
        <p:spPr/>
        <p:txBody>
          <a:bodyPr/>
          <a:lstStyle/>
          <a:p>
            <a:fld id="{053BC6D3-0D27-4A2F-992C-4D5CE82F46E6}" type="datetimeFigureOut">
              <a:rPr kumimoji="1" lang="ja-JP" altLang="en-US" smtClean="0"/>
              <a:t>2026/10/3</a:t>
            </a:fld>
            <a:endParaRPr kumimoji="1" lang="ja-JP" altLang="en-US"/>
          </a:p>
        </p:txBody>
      </p:sp>
      <p:sp>
        <p:nvSpPr>
          <p:cNvPr id="5" name="フッター プレースホルダー 4">
            <a:extLst>
              <a:ext uri="{FF2B5EF4-FFF2-40B4-BE49-F238E27FC236}">
                <a16:creationId xmlns:a16="http://schemas.microsoft.com/office/drawing/2014/main" id="{EAEA4F61-4E0A-1380-3201-02D6AC094AE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F69F599-4DB9-A0B1-006B-6186691CFE03}"/>
              </a:ext>
            </a:extLst>
          </p:cNvPr>
          <p:cNvSpPr>
            <a:spLocks noGrp="1"/>
          </p:cNvSpPr>
          <p:nvPr>
            <p:ph type="sldNum" sz="quarter" idx="12"/>
          </p:nvPr>
        </p:nvSpPr>
        <p:spPr/>
        <p:txBody>
          <a:bodyPr/>
          <a:lstStyle/>
          <a:p>
            <a:fld id="{9171147C-416B-463C-BE6B-E111A3618E7B}" type="slidenum">
              <a:rPr kumimoji="1" lang="ja-JP" altLang="en-US" smtClean="0"/>
              <a:t>‹#›</a:t>
            </a:fld>
            <a:endParaRPr kumimoji="1" lang="ja-JP" altLang="en-US"/>
          </a:p>
        </p:txBody>
      </p:sp>
    </p:spTree>
    <p:extLst>
      <p:ext uri="{BB962C8B-B14F-4D97-AF65-F5344CB8AC3E}">
        <p14:creationId xmlns:p14="http://schemas.microsoft.com/office/powerpoint/2010/main" val="8192205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2B21B9-3EBF-A1BE-112B-C86D9C3B724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BEA7771-7A45-014C-2A2F-869593BEC1AD}"/>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69F4C999-44A6-A81E-04F9-C835B45562C0}"/>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CC4B9968-EC5A-F3E0-0149-FBF22C1D7EE7}"/>
              </a:ext>
            </a:extLst>
          </p:cNvPr>
          <p:cNvSpPr>
            <a:spLocks noGrp="1"/>
          </p:cNvSpPr>
          <p:nvPr>
            <p:ph type="dt" sz="half" idx="10"/>
          </p:nvPr>
        </p:nvSpPr>
        <p:spPr/>
        <p:txBody>
          <a:bodyPr/>
          <a:lstStyle/>
          <a:p>
            <a:fld id="{053BC6D3-0D27-4A2F-992C-4D5CE82F46E6}" type="datetimeFigureOut">
              <a:rPr kumimoji="1" lang="ja-JP" altLang="en-US" smtClean="0"/>
              <a:t>2026/10/3</a:t>
            </a:fld>
            <a:endParaRPr kumimoji="1" lang="ja-JP" altLang="en-US"/>
          </a:p>
        </p:txBody>
      </p:sp>
      <p:sp>
        <p:nvSpPr>
          <p:cNvPr id="6" name="フッター プレースホルダー 5">
            <a:extLst>
              <a:ext uri="{FF2B5EF4-FFF2-40B4-BE49-F238E27FC236}">
                <a16:creationId xmlns:a16="http://schemas.microsoft.com/office/drawing/2014/main" id="{3CCBF5FD-B972-8673-D910-6A4485E77C8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22952A4-C791-28F7-95D4-5C9FE18DD9DD}"/>
              </a:ext>
            </a:extLst>
          </p:cNvPr>
          <p:cNvSpPr>
            <a:spLocks noGrp="1"/>
          </p:cNvSpPr>
          <p:nvPr>
            <p:ph type="sldNum" sz="quarter" idx="12"/>
          </p:nvPr>
        </p:nvSpPr>
        <p:spPr/>
        <p:txBody>
          <a:bodyPr/>
          <a:lstStyle/>
          <a:p>
            <a:fld id="{9171147C-416B-463C-BE6B-E111A3618E7B}" type="slidenum">
              <a:rPr kumimoji="1" lang="ja-JP" altLang="en-US" smtClean="0"/>
              <a:t>‹#›</a:t>
            </a:fld>
            <a:endParaRPr kumimoji="1" lang="ja-JP" altLang="en-US"/>
          </a:p>
        </p:txBody>
      </p:sp>
    </p:spTree>
    <p:extLst>
      <p:ext uri="{BB962C8B-B14F-4D97-AF65-F5344CB8AC3E}">
        <p14:creationId xmlns:p14="http://schemas.microsoft.com/office/powerpoint/2010/main" val="39511883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DD5592-DF33-C923-8B9D-6D6671DDB68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EAB0DBE-1554-D4FE-B41E-947CDD320F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DCE7594F-FB4B-DC93-833B-A7F9B88191E7}"/>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DEB82F01-295E-AF7F-F008-40B48D0A11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9B9EECFB-3A78-C57E-04A3-2A3F20478C8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D79D5D89-1E73-C582-5E6E-BA9EBA08A427}"/>
              </a:ext>
            </a:extLst>
          </p:cNvPr>
          <p:cNvSpPr>
            <a:spLocks noGrp="1"/>
          </p:cNvSpPr>
          <p:nvPr>
            <p:ph type="dt" sz="half" idx="10"/>
          </p:nvPr>
        </p:nvSpPr>
        <p:spPr/>
        <p:txBody>
          <a:bodyPr/>
          <a:lstStyle/>
          <a:p>
            <a:fld id="{053BC6D3-0D27-4A2F-992C-4D5CE82F46E6}" type="datetimeFigureOut">
              <a:rPr kumimoji="1" lang="ja-JP" altLang="en-US" smtClean="0"/>
              <a:t>2026/10/3</a:t>
            </a:fld>
            <a:endParaRPr kumimoji="1" lang="ja-JP" altLang="en-US"/>
          </a:p>
        </p:txBody>
      </p:sp>
      <p:sp>
        <p:nvSpPr>
          <p:cNvPr id="8" name="フッター プレースホルダー 7">
            <a:extLst>
              <a:ext uri="{FF2B5EF4-FFF2-40B4-BE49-F238E27FC236}">
                <a16:creationId xmlns:a16="http://schemas.microsoft.com/office/drawing/2014/main" id="{DC76FE00-856C-954D-01E3-BEB3AA9B26CC}"/>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9559C254-0F05-DC80-9F56-18ECAFB787F9}"/>
              </a:ext>
            </a:extLst>
          </p:cNvPr>
          <p:cNvSpPr>
            <a:spLocks noGrp="1"/>
          </p:cNvSpPr>
          <p:nvPr>
            <p:ph type="sldNum" sz="quarter" idx="12"/>
          </p:nvPr>
        </p:nvSpPr>
        <p:spPr/>
        <p:txBody>
          <a:bodyPr/>
          <a:lstStyle/>
          <a:p>
            <a:fld id="{9171147C-416B-463C-BE6B-E111A3618E7B}" type="slidenum">
              <a:rPr kumimoji="1" lang="ja-JP" altLang="en-US" smtClean="0"/>
              <a:t>‹#›</a:t>
            </a:fld>
            <a:endParaRPr kumimoji="1" lang="ja-JP" altLang="en-US"/>
          </a:p>
        </p:txBody>
      </p:sp>
    </p:spTree>
    <p:extLst>
      <p:ext uri="{BB962C8B-B14F-4D97-AF65-F5344CB8AC3E}">
        <p14:creationId xmlns:p14="http://schemas.microsoft.com/office/powerpoint/2010/main" val="40900763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EFE0304-E8BC-D98B-C3DD-E8C321F85DF3}"/>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2D4438AA-A7F8-10A6-4984-D0ECB7AD6794}"/>
              </a:ext>
            </a:extLst>
          </p:cNvPr>
          <p:cNvSpPr>
            <a:spLocks noGrp="1"/>
          </p:cNvSpPr>
          <p:nvPr>
            <p:ph type="dt" sz="half" idx="10"/>
          </p:nvPr>
        </p:nvSpPr>
        <p:spPr/>
        <p:txBody>
          <a:bodyPr/>
          <a:lstStyle/>
          <a:p>
            <a:fld id="{053BC6D3-0D27-4A2F-992C-4D5CE82F46E6}" type="datetimeFigureOut">
              <a:rPr kumimoji="1" lang="ja-JP" altLang="en-US" smtClean="0"/>
              <a:t>2026/10/3</a:t>
            </a:fld>
            <a:endParaRPr kumimoji="1" lang="ja-JP" altLang="en-US"/>
          </a:p>
        </p:txBody>
      </p:sp>
      <p:sp>
        <p:nvSpPr>
          <p:cNvPr id="4" name="フッター プレースホルダー 3">
            <a:extLst>
              <a:ext uri="{FF2B5EF4-FFF2-40B4-BE49-F238E27FC236}">
                <a16:creationId xmlns:a16="http://schemas.microsoft.com/office/drawing/2014/main" id="{98D6B77D-E65D-8DD9-D042-6A4836D0886D}"/>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5D614DC7-2E13-E559-825B-D618BABA4EB1}"/>
              </a:ext>
            </a:extLst>
          </p:cNvPr>
          <p:cNvSpPr>
            <a:spLocks noGrp="1"/>
          </p:cNvSpPr>
          <p:nvPr>
            <p:ph type="sldNum" sz="quarter" idx="12"/>
          </p:nvPr>
        </p:nvSpPr>
        <p:spPr/>
        <p:txBody>
          <a:bodyPr/>
          <a:lstStyle/>
          <a:p>
            <a:fld id="{9171147C-416B-463C-BE6B-E111A3618E7B}" type="slidenum">
              <a:rPr kumimoji="1" lang="ja-JP" altLang="en-US" smtClean="0"/>
              <a:t>‹#›</a:t>
            </a:fld>
            <a:endParaRPr kumimoji="1" lang="ja-JP" altLang="en-US"/>
          </a:p>
        </p:txBody>
      </p:sp>
    </p:spTree>
    <p:extLst>
      <p:ext uri="{BB962C8B-B14F-4D97-AF65-F5344CB8AC3E}">
        <p14:creationId xmlns:p14="http://schemas.microsoft.com/office/powerpoint/2010/main" val="31329913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5CE6A15D-0318-714C-168C-C141C8D0707A}"/>
              </a:ext>
            </a:extLst>
          </p:cNvPr>
          <p:cNvSpPr>
            <a:spLocks noGrp="1"/>
          </p:cNvSpPr>
          <p:nvPr>
            <p:ph type="dt" sz="half" idx="10"/>
          </p:nvPr>
        </p:nvSpPr>
        <p:spPr/>
        <p:txBody>
          <a:bodyPr/>
          <a:lstStyle/>
          <a:p>
            <a:fld id="{053BC6D3-0D27-4A2F-992C-4D5CE82F46E6}" type="datetimeFigureOut">
              <a:rPr kumimoji="1" lang="ja-JP" altLang="en-US" smtClean="0"/>
              <a:t>2026/10/3</a:t>
            </a:fld>
            <a:endParaRPr kumimoji="1" lang="ja-JP" altLang="en-US"/>
          </a:p>
        </p:txBody>
      </p:sp>
      <p:sp>
        <p:nvSpPr>
          <p:cNvPr id="3" name="フッター プレースホルダー 2">
            <a:extLst>
              <a:ext uri="{FF2B5EF4-FFF2-40B4-BE49-F238E27FC236}">
                <a16:creationId xmlns:a16="http://schemas.microsoft.com/office/drawing/2014/main" id="{C8B634EB-39FB-97B3-D9F4-30D46EF2BAAB}"/>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40CF068-9333-6D25-AD06-79C3D21CBD85}"/>
              </a:ext>
            </a:extLst>
          </p:cNvPr>
          <p:cNvSpPr>
            <a:spLocks noGrp="1"/>
          </p:cNvSpPr>
          <p:nvPr>
            <p:ph type="sldNum" sz="quarter" idx="12"/>
          </p:nvPr>
        </p:nvSpPr>
        <p:spPr/>
        <p:txBody>
          <a:bodyPr/>
          <a:lstStyle/>
          <a:p>
            <a:fld id="{9171147C-416B-463C-BE6B-E111A3618E7B}" type="slidenum">
              <a:rPr kumimoji="1" lang="ja-JP" altLang="en-US" smtClean="0"/>
              <a:t>‹#›</a:t>
            </a:fld>
            <a:endParaRPr kumimoji="1" lang="ja-JP" altLang="en-US"/>
          </a:p>
        </p:txBody>
      </p:sp>
    </p:spTree>
    <p:extLst>
      <p:ext uri="{BB962C8B-B14F-4D97-AF65-F5344CB8AC3E}">
        <p14:creationId xmlns:p14="http://schemas.microsoft.com/office/powerpoint/2010/main" val="9112031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B4A4956-B52E-E007-60D2-60BF0BDCD30C}"/>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B94D2C0-F76F-4E27-C472-99C67BC4CC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38073037-96C9-C88E-F3D7-AE74666A99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1E4FAD28-1C30-8294-D0EC-03616E44AC82}"/>
              </a:ext>
            </a:extLst>
          </p:cNvPr>
          <p:cNvSpPr>
            <a:spLocks noGrp="1"/>
          </p:cNvSpPr>
          <p:nvPr>
            <p:ph type="dt" sz="half" idx="10"/>
          </p:nvPr>
        </p:nvSpPr>
        <p:spPr/>
        <p:txBody>
          <a:bodyPr/>
          <a:lstStyle/>
          <a:p>
            <a:fld id="{053BC6D3-0D27-4A2F-992C-4D5CE82F46E6}" type="datetimeFigureOut">
              <a:rPr kumimoji="1" lang="ja-JP" altLang="en-US" smtClean="0"/>
              <a:t>2026/10/3</a:t>
            </a:fld>
            <a:endParaRPr kumimoji="1" lang="ja-JP" altLang="en-US"/>
          </a:p>
        </p:txBody>
      </p:sp>
      <p:sp>
        <p:nvSpPr>
          <p:cNvPr id="6" name="フッター プレースホルダー 5">
            <a:extLst>
              <a:ext uri="{FF2B5EF4-FFF2-40B4-BE49-F238E27FC236}">
                <a16:creationId xmlns:a16="http://schemas.microsoft.com/office/drawing/2014/main" id="{0D5E94AF-4A1F-5617-4C41-3BD11D0E73F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63145CA-8333-0B2E-D469-9FAB3F1505F4}"/>
              </a:ext>
            </a:extLst>
          </p:cNvPr>
          <p:cNvSpPr>
            <a:spLocks noGrp="1"/>
          </p:cNvSpPr>
          <p:nvPr>
            <p:ph type="sldNum" sz="quarter" idx="12"/>
          </p:nvPr>
        </p:nvSpPr>
        <p:spPr/>
        <p:txBody>
          <a:bodyPr/>
          <a:lstStyle/>
          <a:p>
            <a:fld id="{9171147C-416B-463C-BE6B-E111A3618E7B}" type="slidenum">
              <a:rPr kumimoji="1" lang="ja-JP" altLang="en-US" smtClean="0"/>
              <a:t>‹#›</a:t>
            </a:fld>
            <a:endParaRPr kumimoji="1" lang="ja-JP" altLang="en-US"/>
          </a:p>
        </p:txBody>
      </p:sp>
    </p:spTree>
    <p:extLst>
      <p:ext uri="{BB962C8B-B14F-4D97-AF65-F5344CB8AC3E}">
        <p14:creationId xmlns:p14="http://schemas.microsoft.com/office/powerpoint/2010/main" val="30008426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658A433-4852-A0CE-E81D-0942DC87DB2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04E993A5-A85E-110B-01D5-37A6C452827E}"/>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9596696A-A69A-6608-CF57-BF01EDD41C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2FB6580-0BB6-5362-5A18-389F3F7B532C}"/>
              </a:ext>
            </a:extLst>
          </p:cNvPr>
          <p:cNvSpPr>
            <a:spLocks noGrp="1"/>
          </p:cNvSpPr>
          <p:nvPr>
            <p:ph type="dt" sz="half" idx="10"/>
          </p:nvPr>
        </p:nvSpPr>
        <p:spPr/>
        <p:txBody>
          <a:bodyPr/>
          <a:lstStyle/>
          <a:p>
            <a:fld id="{053BC6D3-0D27-4A2F-992C-4D5CE82F46E6}" type="datetimeFigureOut">
              <a:rPr kumimoji="1" lang="ja-JP" altLang="en-US" smtClean="0"/>
              <a:t>2026/10/3</a:t>
            </a:fld>
            <a:endParaRPr kumimoji="1" lang="ja-JP" altLang="en-US"/>
          </a:p>
        </p:txBody>
      </p:sp>
      <p:sp>
        <p:nvSpPr>
          <p:cNvPr id="6" name="フッター プレースホルダー 5">
            <a:extLst>
              <a:ext uri="{FF2B5EF4-FFF2-40B4-BE49-F238E27FC236}">
                <a16:creationId xmlns:a16="http://schemas.microsoft.com/office/drawing/2014/main" id="{C65BE67A-DA0B-91FF-B8F1-BD284B0E986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B2F3663-3F78-2466-17CB-4D32CEE91BED}"/>
              </a:ext>
            </a:extLst>
          </p:cNvPr>
          <p:cNvSpPr>
            <a:spLocks noGrp="1"/>
          </p:cNvSpPr>
          <p:nvPr>
            <p:ph type="sldNum" sz="quarter" idx="12"/>
          </p:nvPr>
        </p:nvSpPr>
        <p:spPr/>
        <p:txBody>
          <a:bodyPr/>
          <a:lstStyle/>
          <a:p>
            <a:fld id="{9171147C-416B-463C-BE6B-E111A3618E7B}" type="slidenum">
              <a:rPr kumimoji="1" lang="ja-JP" altLang="en-US" smtClean="0"/>
              <a:t>‹#›</a:t>
            </a:fld>
            <a:endParaRPr kumimoji="1" lang="ja-JP" altLang="en-US"/>
          </a:p>
        </p:txBody>
      </p:sp>
    </p:spTree>
    <p:extLst>
      <p:ext uri="{BB962C8B-B14F-4D97-AF65-F5344CB8AC3E}">
        <p14:creationId xmlns:p14="http://schemas.microsoft.com/office/powerpoint/2010/main" val="37479650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B574D8D-9A09-C9BC-0B13-F26A2DA7EA45}"/>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DAA479C-F93D-797D-CC85-2827AD65D762}"/>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A046727-18F2-A6BC-D6D9-0075A174F90C}"/>
              </a:ext>
            </a:extLst>
          </p:cNvPr>
          <p:cNvSpPr>
            <a:spLocks noGrp="1"/>
          </p:cNvSpPr>
          <p:nvPr>
            <p:ph type="dt" sz="half" idx="10"/>
          </p:nvPr>
        </p:nvSpPr>
        <p:spPr/>
        <p:txBody>
          <a:bodyPr/>
          <a:lstStyle/>
          <a:p>
            <a:fld id="{053BC6D3-0D27-4A2F-992C-4D5CE82F46E6}" type="datetimeFigureOut">
              <a:rPr kumimoji="1" lang="ja-JP" altLang="en-US" smtClean="0"/>
              <a:t>2026/10/3</a:t>
            </a:fld>
            <a:endParaRPr kumimoji="1" lang="ja-JP" altLang="en-US"/>
          </a:p>
        </p:txBody>
      </p:sp>
      <p:sp>
        <p:nvSpPr>
          <p:cNvPr id="5" name="フッター プレースホルダー 4">
            <a:extLst>
              <a:ext uri="{FF2B5EF4-FFF2-40B4-BE49-F238E27FC236}">
                <a16:creationId xmlns:a16="http://schemas.microsoft.com/office/drawing/2014/main" id="{E08DAEF9-3C3B-E12A-7FE2-AFC8D7BD8C1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27D9DA5-A45E-73AE-42AF-23B80187E195}"/>
              </a:ext>
            </a:extLst>
          </p:cNvPr>
          <p:cNvSpPr>
            <a:spLocks noGrp="1"/>
          </p:cNvSpPr>
          <p:nvPr>
            <p:ph type="sldNum" sz="quarter" idx="12"/>
          </p:nvPr>
        </p:nvSpPr>
        <p:spPr/>
        <p:txBody>
          <a:bodyPr/>
          <a:lstStyle/>
          <a:p>
            <a:fld id="{9171147C-416B-463C-BE6B-E111A3618E7B}" type="slidenum">
              <a:rPr kumimoji="1" lang="ja-JP" altLang="en-US" smtClean="0"/>
              <a:t>‹#›</a:t>
            </a:fld>
            <a:endParaRPr kumimoji="1" lang="ja-JP" altLang="en-US"/>
          </a:p>
        </p:txBody>
      </p:sp>
    </p:spTree>
    <p:extLst>
      <p:ext uri="{BB962C8B-B14F-4D97-AF65-F5344CB8AC3E}">
        <p14:creationId xmlns:p14="http://schemas.microsoft.com/office/powerpoint/2010/main" val="1846348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5FA6D2A8-EC1B-BA5F-DDA1-1F16B3C9494B}"/>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2B635BE-1494-1482-F3C4-E4EF217C088B}"/>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1AD11F6-DD49-CC48-61A2-84AB5D92B929}"/>
              </a:ext>
            </a:extLst>
          </p:cNvPr>
          <p:cNvSpPr>
            <a:spLocks noGrp="1"/>
          </p:cNvSpPr>
          <p:nvPr>
            <p:ph type="dt" sz="half" idx="10"/>
          </p:nvPr>
        </p:nvSpPr>
        <p:spPr/>
        <p:txBody>
          <a:bodyPr/>
          <a:lstStyle/>
          <a:p>
            <a:fld id="{053BC6D3-0D27-4A2F-992C-4D5CE82F46E6}" type="datetimeFigureOut">
              <a:rPr kumimoji="1" lang="ja-JP" altLang="en-US" smtClean="0"/>
              <a:t>2026/10/3</a:t>
            </a:fld>
            <a:endParaRPr kumimoji="1" lang="ja-JP" altLang="en-US"/>
          </a:p>
        </p:txBody>
      </p:sp>
      <p:sp>
        <p:nvSpPr>
          <p:cNvPr id="5" name="フッター プレースホルダー 4">
            <a:extLst>
              <a:ext uri="{FF2B5EF4-FFF2-40B4-BE49-F238E27FC236}">
                <a16:creationId xmlns:a16="http://schemas.microsoft.com/office/drawing/2014/main" id="{7BA57441-C9D8-0D44-80DE-03A960D91D4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0988AC1-CADB-3628-A623-50BEF8F3917D}"/>
              </a:ext>
            </a:extLst>
          </p:cNvPr>
          <p:cNvSpPr>
            <a:spLocks noGrp="1"/>
          </p:cNvSpPr>
          <p:nvPr>
            <p:ph type="sldNum" sz="quarter" idx="12"/>
          </p:nvPr>
        </p:nvSpPr>
        <p:spPr/>
        <p:txBody>
          <a:bodyPr/>
          <a:lstStyle/>
          <a:p>
            <a:fld id="{9171147C-416B-463C-BE6B-E111A3618E7B}" type="slidenum">
              <a:rPr kumimoji="1" lang="ja-JP" altLang="en-US" smtClean="0"/>
              <a:t>‹#›</a:t>
            </a:fld>
            <a:endParaRPr kumimoji="1" lang="ja-JP" altLang="en-US"/>
          </a:p>
        </p:txBody>
      </p:sp>
    </p:spTree>
    <p:extLst>
      <p:ext uri="{BB962C8B-B14F-4D97-AF65-F5344CB8AC3E}">
        <p14:creationId xmlns:p14="http://schemas.microsoft.com/office/powerpoint/2010/main" val="21830631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0FE6AD38-0772-FC23-94F0-52FE9AC5B9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4288EC3-E8DD-D238-2C6A-82002C9536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FE243FC-DF70-8B85-B317-0DE003FC0B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53BC6D3-0D27-4A2F-992C-4D5CE82F46E6}" type="datetimeFigureOut">
              <a:rPr kumimoji="1" lang="ja-JP" altLang="en-US" smtClean="0"/>
              <a:t>2026/10/3</a:t>
            </a:fld>
            <a:endParaRPr kumimoji="1" lang="ja-JP" altLang="en-US"/>
          </a:p>
        </p:txBody>
      </p:sp>
      <p:sp>
        <p:nvSpPr>
          <p:cNvPr id="5" name="フッター プレースホルダー 4">
            <a:extLst>
              <a:ext uri="{FF2B5EF4-FFF2-40B4-BE49-F238E27FC236}">
                <a16:creationId xmlns:a16="http://schemas.microsoft.com/office/drawing/2014/main" id="{172A2B62-483A-E9F5-1C6C-13CC5BD086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7BD0B75C-A07D-D8C9-F07B-355B6B84D7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171147C-416B-463C-BE6B-E111A3618E7B}" type="slidenum">
              <a:rPr kumimoji="1" lang="ja-JP" altLang="en-US" smtClean="0"/>
              <a:t>‹#›</a:t>
            </a:fld>
            <a:endParaRPr kumimoji="1" lang="ja-JP" altLang="en-US"/>
          </a:p>
        </p:txBody>
      </p:sp>
    </p:spTree>
    <p:extLst>
      <p:ext uri="{BB962C8B-B14F-4D97-AF65-F5344CB8AC3E}">
        <p14:creationId xmlns:p14="http://schemas.microsoft.com/office/powerpoint/2010/main" val="18799107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3A87FF2E-B106-CB29-8195-0860D7FFC5F1}"/>
              </a:ext>
            </a:extLst>
          </p:cNvPr>
          <p:cNvSpPr/>
          <p:nvPr/>
        </p:nvSpPr>
        <p:spPr>
          <a:xfrm>
            <a:off x="0" y="0"/>
            <a:ext cx="12192000" cy="6858000"/>
          </a:xfrm>
          <a:prstGeom prst="rect">
            <a:avLst/>
          </a:prstGeom>
          <a:solidFill>
            <a:srgbClr val="1E3A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409CD11D-5FB6-9618-A729-CEBCA90C8796}"/>
              </a:ext>
            </a:extLst>
          </p:cNvPr>
          <p:cNvSpPr txBox="1"/>
          <p:nvPr/>
        </p:nvSpPr>
        <p:spPr>
          <a:xfrm>
            <a:off x="762000" y="1778000"/>
            <a:ext cx="10668000" cy="369332"/>
          </a:xfrm>
          <a:prstGeom prst="rect">
            <a:avLst/>
          </a:prstGeom>
          <a:noFill/>
        </p:spPr>
        <p:txBody>
          <a:bodyPr vert="horz" rtlCol="0">
            <a:spAutoFit/>
          </a:bodyPr>
          <a:lstStyle/>
          <a:p>
            <a:r>
              <a:rPr kumimoji="1" lang="ja-JP" altLang="en-US" b="1">
                <a:solidFill>
                  <a:srgbClr val="10B981"/>
                </a:solidFill>
                <a:latin typeface="Meiryo" panose="020B0604030504040204" pitchFamily="50" charset="-128"/>
              </a:rPr>
              <a:t>自治会・町内会 </a:t>
            </a:r>
            <a:r>
              <a:rPr kumimoji="1" lang="en-US" altLang="ja-JP" b="1">
                <a:solidFill>
                  <a:srgbClr val="10B981"/>
                </a:solidFill>
                <a:latin typeface="Meiryo" panose="020B0604030504040204" pitchFamily="50" charset="-128"/>
              </a:rPr>
              <a:t>DX</a:t>
            </a:r>
            <a:r>
              <a:rPr kumimoji="1" lang="ja-JP" altLang="en-US" b="1">
                <a:solidFill>
                  <a:srgbClr val="10B981"/>
                </a:solidFill>
                <a:latin typeface="Meiryo" panose="020B0604030504040204" pitchFamily="50" charset="-128"/>
              </a:rPr>
              <a:t>支援</a:t>
            </a:r>
          </a:p>
        </p:txBody>
      </p:sp>
      <p:sp>
        <p:nvSpPr>
          <p:cNvPr id="4" name="テキスト ボックス 3">
            <a:extLst>
              <a:ext uri="{FF2B5EF4-FFF2-40B4-BE49-F238E27FC236}">
                <a16:creationId xmlns:a16="http://schemas.microsoft.com/office/drawing/2014/main" id="{27E0678B-DD24-0933-1F21-D1DF2D370E99}"/>
              </a:ext>
            </a:extLst>
          </p:cNvPr>
          <p:cNvSpPr txBox="1"/>
          <p:nvPr/>
        </p:nvSpPr>
        <p:spPr>
          <a:xfrm>
            <a:off x="762000" y="2286000"/>
            <a:ext cx="10668000" cy="1138773"/>
          </a:xfrm>
          <a:prstGeom prst="rect">
            <a:avLst/>
          </a:prstGeom>
          <a:noFill/>
        </p:spPr>
        <p:txBody>
          <a:bodyPr vert="horz" rtlCol="0">
            <a:spAutoFit/>
          </a:bodyPr>
          <a:lstStyle/>
          <a:p>
            <a:r>
              <a:rPr kumimoji="1" lang="ja-JP" altLang="en-US" sz="3400" b="1">
                <a:solidFill>
                  <a:srgbClr val="FFFFFF"/>
                </a:solidFill>
                <a:latin typeface="Meiryo" panose="020B0604030504040204" pitchFamily="50" charset="-128"/>
              </a:rPr>
              <a:t>自治会員名簿管理システム
他自治会向け 導入・設定説明資料</a:t>
            </a:r>
          </a:p>
        </p:txBody>
      </p:sp>
      <p:sp>
        <p:nvSpPr>
          <p:cNvPr id="5" name="テキスト ボックス 4">
            <a:extLst>
              <a:ext uri="{FF2B5EF4-FFF2-40B4-BE49-F238E27FC236}">
                <a16:creationId xmlns:a16="http://schemas.microsoft.com/office/drawing/2014/main" id="{64018BB8-B5E5-48E4-EC05-8EF0B4A887DE}"/>
              </a:ext>
            </a:extLst>
          </p:cNvPr>
          <p:cNvSpPr txBox="1"/>
          <p:nvPr/>
        </p:nvSpPr>
        <p:spPr>
          <a:xfrm>
            <a:off x="762000" y="4064000"/>
            <a:ext cx="10668000" cy="830997"/>
          </a:xfrm>
          <a:prstGeom prst="rect">
            <a:avLst/>
          </a:prstGeom>
          <a:noFill/>
        </p:spPr>
        <p:txBody>
          <a:bodyPr vert="horz" rtlCol="0">
            <a:spAutoFit/>
          </a:bodyPr>
          <a:lstStyle/>
          <a:p>
            <a:r>
              <a:rPr kumimoji="1" lang="ja-JP" altLang="en-US" sz="1600">
                <a:solidFill>
                  <a:srgbClr val="F0E8E2"/>
                </a:solidFill>
                <a:latin typeface="Meiryo" panose="020B0604030504040204" pitchFamily="50" charset="-128"/>
              </a:rPr>
              <a:t>■ スマホ・</a:t>
            </a:r>
            <a:r>
              <a:rPr kumimoji="1" lang="en-US" altLang="ja-JP" sz="1600">
                <a:solidFill>
                  <a:srgbClr val="F0E8E2"/>
                </a:solidFill>
                <a:latin typeface="Meiryo" panose="020B0604030504040204" pitchFamily="50" charset="-128"/>
              </a:rPr>
              <a:t>PC</a:t>
            </a:r>
            <a:r>
              <a:rPr kumimoji="1" lang="ja-JP" altLang="en-US" sz="1600">
                <a:solidFill>
                  <a:srgbClr val="F0E8E2"/>
                </a:solidFill>
                <a:latin typeface="Meiryo" panose="020B0604030504040204" pitchFamily="50" charset="-128"/>
              </a:rPr>
              <a:t>両対応 </a:t>
            </a:r>
            <a:r>
              <a:rPr kumimoji="1" lang="en-US" altLang="ja-JP" sz="1600">
                <a:solidFill>
                  <a:srgbClr val="F0E8E2"/>
                </a:solidFill>
                <a:latin typeface="Meiryo" panose="020B0604030504040204" pitchFamily="50" charset="-128"/>
              </a:rPr>
              <a:t>/ Google</a:t>
            </a:r>
            <a:r>
              <a:rPr kumimoji="1" lang="ja-JP" altLang="en-US" sz="1600">
                <a:solidFill>
                  <a:srgbClr val="F0E8E2"/>
                </a:solidFill>
                <a:latin typeface="Meiryo" panose="020B0604030504040204" pitchFamily="50" charset="-128"/>
              </a:rPr>
              <a:t>スプレッドシート連携
■ サーバー費用ゼロ・開発不要ですぐに利用可能
■ 入会受付フォーム連携・会費集金チェック・帳票印刷対応</a:t>
            </a:r>
          </a:p>
        </p:txBody>
      </p:sp>
    </p:spTree>
    <p:extLst>
      <p:ext uri="{BB962C8B-B14F-4D97-AF65-F5344CB8AC3E}">
        <p14:creationId xmlns:p14="http://schemas.microsoft.com/office/powerpoint/2010/main" val="22268991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565055C9-2C9E-A322-6BC8-C5401E3C7D91}"/>
              </a:ext>
            </a:extLst>
          </p:cNvPr>
          <p:cNvSpPr/>
          <p:nvPr/>
        </p:nvSpPr>
        <p:spPr>
          <a:xfrm>
            <a:off x="0" y="0"/>
            <a:ext cx="12192000" cy="1016000"/>
          </a:xfrm>
          <a:prstGeom prst="rect">
            <a:avLst/>
          </a:prstGeom>
          <a:solidFill>
            <a:srgbClr val="1E3A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115F718A-5C41-D956-D05F-AD7EDA9002F7}"/>
              </a:ext>
            </a:extLst>
          </p:cNvPr>
          <p:cNvSpPr txBox="1"/>
          <p:nvPr/>
        </p:nvSpPr>
        <p:spPr>
          <a:xfrm>
            <a:off x="508000" y="127000"/>
            <a:ext cx="3810000" cy="276999"/>
          </a:xfrm>
          <a:prstGeom prst="rect">
            <a:avLst/>
          </a:prstGeom>
          <a:noFill/>
        </p:spPr>
        <p:txBody>
          <a:bodyPr vert="horz" rtlCol="0">
            <a:spAutoFit/>
          </a:bodyPr>
          <a:lstStyle/>
          <a:p>
            <a:r>
              <a:rPr kumimoji="1" lang="ja-JP" altLang="en-US" sz="1200" b="1">
                <a:solidFill>
                  <a:srgbClr val="10B981"/>
                </a:solidFill>
                <a:latin typeface="Meiryo" panose="020B0604030504040204" pitchFamily="50" charset="-128"/>
              </a:rPr>
              <a:t>システム概要</a:t>
            </a:r>
          </a:p>
        </p:txBody>
      </p:sp>
      <p:sp>
        <p:nvSpPr>
          <p:cNvPr id="4" name="テキスト ボックス 3">
            <a:extLst>
              <a:ext uri="{FF2B5EF4-FFF2-40B4-BE49-F238E27FC236}">
                <a16:creationId xmlns:a16="http://schemas.microsoft.com/office/drawing/2014/main" id="{0A153708-F40B-428E-AD93-4CA3509FA3FA}"/>
              </a:ext>
            </a:extLst>
          </p:cNvPr>
          <p:cNvSpPr txBox="1"/>
          <p:nvPr/>
        </p:nvSpPr>
        <p:spPr>
          <a:xfrm>
            <a:off x="508000" y="381000"/>
            <a:ext cx="11176000" cy="430887"/>
          </a:xfrm>
          <a:prstGeom prst="rect">
            <a:avLst/>
          </a:prstGeom>
          <a:noFill/>
        </p:spPr>
        <p:txBody>
          <a:bodyPr vert="horz" rtlCol="0">
            <a:spAutoFit/>
          </a:bodyPr>
          <a:lstStyle/>
          <a:p>
            <a:r>
              <a:rPr kumimoji="1" lang="ja-JP" altLang="en-US" sz="2200" b="1">
                <a:solidFill>
                  <a:srgbClr val="FFFFFF"/>
                </a:solidFill>
                <a:latin typeface="Meiryo" panose="020B0604030504040204" pitchFamily="50" charset="-128"/>
              </a:rPr>
              <a:t>システムの仕組み：共通</a:t>
            </a:r>
            <a:r>
              <a:rPr kumimoji="1" lang="en-US" altLang="ja-JP" sz="2200" b="1">
                <a:solidFill>
                  <a:srgbClr val="FFFFFF"/>
                </a:solidFill>
                <a:latin typeface="Meiryo" panose="020B0604030504040204" pitchFamily="50" charset="-128"/>
              </a:rPr>
              <a:t>Web</a:t>
            </a:r>
            <a:r>
              <a:rPr kumimoji="1" lang="ja-JP" altLang="en-US" sz="2200" b="1">
                <a:solidFill>
                  <a:srgbClr val="FFFFFF"/>
                </a:solidFill>
                <a:latin typeface="Meiryo" panose="020B0604030504040204" pitchFamily="50" charset="-128"/>
              </a:rPr>
              <a:t>アプリ ＋ 個別スプレッドシート</a:t>
            </a:r>
          </a:p>
        </p:txBody>
      </p:sp>
      <p:sp>
        <p:nvSpPr>
          <p:cNvPr id="5" name="正方形/長方形 4">
            <a:extLst>
              <a:ext uri="{FF2B5EF4-FFF2-40B4-BE49-F238E27FC236}">
                <a16:creationId xmlns:a16="http://schemas.microsoft.com/office/drawing/2014/main" id="{F806690A-64C9-D9F5-642E-05FFFBB5F8C5}"/>
              </a:ext>
            </a:extLst>
          </p:cNvPr>
          <p:cNvSpPr/>
          <p:nvPr/>
        </p:nvSpPr>
        <p:spPr>
          <a:xfrm>
            <a:off x="635000" y="1524000"/>
            <a:ext cx="5207000" cy="4572000"/>
          </a:xfrm>
          <a:prstGeom prst="rect">
            <a:avLst/>
          </a:prstGeom>
          <a:solidFill>
            <a:srgbClr val="EFF6FF"/>
          </a:solidFill>
          <a:ln w="2540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rgbClr val="3B291E"/>
                </a:solidFill>
                <a:latin typeface="Meiryo" panose="020B0604030504040204" pitchFamily="50" charset="-128"/>
              </a:rPr>
              <a:t>📱 共通</a:t>
            </a:r>
            <a:r>
              <a:rPr kumimoji="1" lang="en-US" altLang="ja-JP" sz="1400">
                <a:solidFill>
                  <a:srgbClr val="3B291E"/>
                </a:solidFill>
                <a:latin typeface="Meiryo" panose="020B0604030504040204" pitchFamily="50" charset="-128"/>
              </a:rPr>
              <a:t>Web</a:t>
            </a:r>
            <a:r>
              <a:rPr kumimoji="1" lang="ja-JP" altLang="en-US" sz="1400">
                <a:solidFill>
                  <a:srgbClr val="3B291E"/>
                </a:solidFill>
                <a:latin typeface="Meiryo" panose="020B0604030504040204" pitchFamily="50" charset="-128"/>
              </a:rPr>
              <a:t>アプリケーション
</a:t>
            </a:r>
            <a:r>
              <a:rPr kumimoji="1" lang="en-US" altLang="ja-JP" sz="1400">
                <a:solidFill>
                  <a:srgbClr val="3B291E"/>
                </a:solidFill>
                <a:latin typeface="Meiryo" panose="020B0604030504040204" pitchFamily="50" charset="-128"/>
              </a:rPr>
              <a:t>(GitHub Pages</a:t>
            </a:r>
            <a:r>
              <a:rPr kumimoji="1" lang="ja-JP" altLang="en-US" sz="1400">
                <a:solidFill>
                  <a:srgbClr val="3B291E"/>
                </a:solidFill>
                <a:latin typeface="Meiryo" panose="020B0604030504040204" pitchFamily="50" charset="-128"/>
              </a:rPr>
              <a:t>にて無料公開中</a:t>
            </a:r>
            <a:r>
              <a:rPr kumimoji="1" lang="en-US" altLang="ja-JP" sz="1400">
                <a:solidFill>
                  <a:srgbClr val="3B291E"/>
                </a:solidFill>
                <a:latin typeface="Meiryo" panose="020B0604030504040204" pitchFamily="50" charset="-128"/>
              </a:rPr>
              <a:t>)
</a:t>
            </a:r>
            <a:r>
              <a:rPr kumimoji="1" lang="ja-JP" altLang="en-US" sz="1400">
                <a:solidFill>
                  <a:srgbClr val="3B291E"/>
                </a:solidFill>
                <a:latin typeface="Meiryo" panose="020B0604030504040204" pitchFamily="50" charset="-128"/>
              </a:rPr>
              <a:t>・インストール不要（ブラウザで即座に起動）
・スマホ＆</a:t>
            </a:r>
            <a:r>
              <a:rPr kumimoji="1" lang="en-US" altLang="ja-JP" sz="1400">
                <a:solidFill>
                  <a:srgbClr val="3B291E"/>
                </a:solidFill>
                <a:latin typeface="Meiryo" panose="020B0604030504040204" pitchFamily="50" charset="-128"/>
              </a:rPr>
              <a:t>PC</a:t>
            </a:r>
            <a:r>
              <a:rPr kumimoji="1" lang="ja-JP" altLang="en-US" sz="1400">
                <a:solidFill>
                  <a:srgbClr val="3B291E"/>
                </a:solidFill>
                <a:latin typeface="Meiryo" panose="020B0604030504040204" pitchFamily="50" charset="-128"/>
              </a:rPr>
              <a:t>両対応（</a:t>
            </a:r>
            <a:r>
              <a:rPr kumimoji="1" lang="en-US" altLang="ja-JP" sz="1400">
                <a:solidFill>
                  <a:srgbClr val="3B291E"/>
                </a:solidFill>
                <a:latin typeface="Meiryo" panose="020B0604030504040204" pitchFamily="50" charset="-128"/>
              </a:rPr>
              <a:t>PWA</a:t>
            </a:r>
            <a:r>
              <a:rPr kumimoji="1" lang="ja-JP" altLang="en-US" sz="1400">
                <a:solidFill>
                  <a:srgbClr val="3B291E"/>
                </a:solidFill>
                <a:latin typeface="Meiryo" panose="020B0604030504040204" pitchFamily="50" charset="-128"/>
              </a:rPr>
              <a:t>対応）
・名簿の高速検索・フィルタリング
・班長の会費集金チェックモード
・</a:t>
            </a:r>
            <a:r>
              <a:rPr kumimoji="1" lang="en-US" altLang="ja-JP" sz="1400">
                <a:solidFill>
                  <a:srgbClr val="3B291E"/>
                </a:solidFill>
                <a:latin typeface="Meiryo" panose="020B0604030504040204" pitchFamily="50" charset="-128"/>
              </a:rPr>
              <a:t>A4</a:t>
            </a:r>
            <a:r>
              <a:rPr kumimoji="1" lang="ja-JP" altLang="en-US" sz="1400">
                <a:solidFill>
                  <a:srgbClr val="3B291E"/>
                </a:solidFill>
                <a:latin typeface="Meiryo" panose="020B0604030504040204" pitchFamily="50" charset="-128"/>
              </a:rPr>
              <a:t>帳票印刷（班長名簿、集金台帳など）
👉 全国の自治会で</a:t>
            </a:r>
            <a:r>
              <a:rPr kumimoji="1" lang="en-US" altLang="ja-JP" sz="1400">
                <a:solidFill>
                  <a:srgbClr val="3B291E"/>
                </a:solidFill>
                <a:latin typeface="Meiryo" panose="020B0604030504040204" pitchFamily="50" charset="-128"/>
              </a:rPr>
              <a:t>【</a:t>
            </a:r>
            <a:r>
              <a:rPr kumimoji="1" lang="ja-JP" altLang="en-US" sz="1400">
                <a:solidFill>
                  <a:srgbClr val="3B291E"/>
                </a:solidFill>
                <a:latin typeface="Meiryo" panose="020B0604030504040204" pitchFamily="50" charset="-128"/>
              </a:rPr>
              <a:t>同じアプリ</a:t>
            </a:r>
            <a:r>
              <a:rPr kumimoji="1" lang="en-US" altLang="ja-JP" sz="1400">
                <a:solidFill>
                  <a:srgbClr val="3B291E"/>
                </a:solidFill>
                <a:latin typeface="Meiryo" panose="020B0604030504040204" pitchFamily="50" charset="-128"/>
              </a:rPr>
              <a:t>】</a:t>
            </a:r>
            <a:r>
              <a:rPr kumimoji="1" lang="ja-JP" altLang="en-US" sz="1400">
                <a:solidFill>
                  <a:srgbClr val="3B291E"/>
                </a:solidFill>
                <a:latin typeface="Meiryo" panose="020B0604030504040204" pitchFamily="50" charset="-128"/>
              </a:rPr>
              <a:t>を利用可能！</a:t>
            </a:r>
          </a:p>
        </p:txBody>
      </p:sp>
      <p:sp>
        <p:nvSpPr>
          <p:cNvPr id="6" name="正方形/長方形 5">
            <a:extLst>
              <a:ext uri="{FF2B5EF4-FFF2-40B4-BE49-F238E27FC236}">
                <a16:creationId xmlns:a16="http://schemas.microsoft.com/office/drawing/2014/main" id="{486966CA-3BEC-38AB-99FC-822AB10CAA6D}"/>
              </a:ext>
            </a:extLst>
          </p:cNvPr>
          <p:cNvSpPr/>
          <p:nvPr/>
        </p:nvSpPr>
        <p:spPr>
          <a:xfrm>
            <a:off x="6350000" y="1524000"/>
            <a:ext cx="5207000" cy="4572000"/>
          </a:xfrm>
          <a:prstGeom prst="rect">
            <a:avLst/>
          </a:prstGeom>
          <a:solidFill>
            <a:srgbClr val="F0FDF5"/>
          </a:solidFill>
          <a:ln w="2540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rgbClr val="3B291E"/>
                </a:solidFill>
                <a:latin typeface="Meiryo" panose="020B0604030504040204" pitchFamily="50" charset="-128"/>
              </a:rPr>
              <a:t>📊 各自治体の</a:t>
            </a:r>
            <a:r>
              <a:rPr kumimoji="1" lang="en-US" altLang="ja-JP" sz="1400">
                <a:solidFill>
                  <a:srgbClr val="3B291E"/>
                </a:solidFill>
                <a:latin typeface="Meiryo" panose="020B0604030504040204" pitchFamily="50" charset="-128"/>
              </a:rPr>
              <a:t>Google</a:t>
            </a:r>
            <a:r>
              <a:rPr kumimoji="1" lang="ja-JP" altLang="en-US" sz="1400">
                <a:solidFill>
                  <a:srgbClr val="3B291E"/>
                </a:solidFill>
                <a:latin typeface="Meiryo" panose="020B0604030504040204" pitchFamily="50" charset="-128"/>
              </a:rPr>
              <a:t>スプレッドシート
</a:t>
            </a:r>
            <a:r>
              <a:rPr kumimoji="1" lang="en-US" altLang="ja-JP" sz="1400">
                <a:solidFill>
                  <a:srgbClr val="3B291E"/>
                </a:solidFill>
                <a:latin typeface="Meiryo" panose="020B0604030504040204" pitchFamily="50" charset="-128"/>
              </a:rPr>
              <a:t>(</a:t>
            </a:r>
            <a:r>
              <a:rPr kumimoji="1" lang="ja-JP" altLang="en-US" sz="1400">
                <a:solidFill>
                  <a:srgbClr val="3B291E"/>
                </a:solidFill>
                <a:latin typeface="Meiryo" panose="020B0604030504040204" pitchFamily="50" charset="-128"/>
              </a:rPr>
              <a:t>各自治体の</a:t>
            </a:r>
            <a:r>
              <a:rPr kumimoji="1" lang="en-US" altLang="ja-JP" sz="1400">
                <a:solidFill>
                  <a:srgbClr val="3B291E"/>
                </a:solidFill>
                <a:latin typeface="Meiryo" panose="020B0604030504040204" pitchFamily="50" charset="-128"/>
              </a:rPr>
              <a:t>Google</a:t>
            </a:r>
            <a:r>
              <a:rPr kumimoji="1" lang="ja-JP" altLang="en-US" sz="1400">
                <a:solidFill>
                  <a:srgbClr val="3B291E"/>
                </a:solidFill>
                <a:latin typeface="Meiryo" panose="020B0604030504040204" pitchFamily="50" charset="-128"/>
              </a:rPr>
              <a:t>アカウントで管理</a:t>
            </a:r>
            <a:r>
              <a:rPr kumimoji="1" lang="en-US" altLang="ja-JP" sz="1400">
                <a:solidFill>
                  <a:srgbClr val="3B291E"/>
                </a:solidFill>
                <a:latin typeface="Meiryo" panose="020B0604030504040204" pitchFamily="50" charset="-128"/>
              </a:rPr>
              <a:t>)
</a:t>
            </a:r>
            <a:r>
              <a:rPr kumimoji="1" lang="ja-JP" altLang="en-US" sz="1400">
                <a:solidFill>
                  <a:srgbClr val="3B291E"/>
                </a:solidFill>
                <a:latin typeface="Meiryo" panose="020B0604030504040204" pitchFamily="50" charset="-128"/>
              </a:rPr>
              <a:t>・会員の個人情報は貴自治体のシート内にのみ保管
・他自治体とデータが混ざる心配は一切なし
・専用スクリプト</a:t>
            </a:r>
            <a:r>
              <a:rPr kumimoji="1" lang="en-US" altLang="ja-JP" sz="1400">
                <a:solidFill>
                  <a:srgbClr val="3B291E"/>
                </a:solidFill>
                <a:latin typeface="Meiryo" panose="020B0604030504040204" pitchFamily="50" charset="-128"/>
              </a:rPr>
              <a:t>(Code.js)</a:t>
            </a:r>
            <a:r>
              <a:rPr kumimoji="1" lang="ja-JP" altLang="en-US" sz="1400">
                <a:solidFill>
                  <a:srgbClr val="3B291E"/>
                </a:solidFill>
                <a:latin typeface="Meiryo" panose="020B0604030504040204" pitchFamily="50" charset="-128"/>
              </a:rPr>
              <a:t>を貼るだけで</a:t>
            </a:r>
            <a:r>
              <a:rPr kumimoji="1" lang="en-US" altLang="ja-JP" sz="1400">
                <a:solidFill>
                  <a:srgbClr val="3B291E"/>
                </a:solidFill>
                <a:latin typeface="Meiryo" panose="020B0604030504040204" pitchFamily="50" charset="-128"/>
              </a:rPr>
              <a:t>DB</a:t>
            </a:r>
            <a:r>
              <a:rPr kumimoji="1" lang="ja-JP" altLang="en-US" sz="1400">
                <a:solidFill>
                  <a:srgbClr val="3B291E"/>
                </a:solidFill>
                <a:latin typeface="Meiryo" panose="020B0604030504040204" pitchFamily="50" charset="-128"/>
              </a:rPr>
              <a:t>化
・独自の合言葉（パスコード）でアクセス保護
・</a:t>
            </a:r>
            <a:r>
              <a:rPr kumimoji="1" lang="en-US" altLang="ja-JP" sz="1400">
                <a:solidFill>
                  <a:srgbClr val="3B291E"/>
                </a:solidFill>
                <a:latin typeface="Meiryo" panose="020B0604030504040204" pitchFamily="50" charset="-128"/>
              </a:rPr>
              <a:t>Excel</a:t>
            </a:r>
            <a:r>
              <a:rPr kumimoji="1" lang="ja-JP" altLang="en-US" sz="1400">
                <a:solidFill>
                  <a:srgbClr val="3B291E"/>
                </a:solidFill>
                <a:latin typeface="Meiryo" panose="020B0604030504040204" pitchFamily="50" charset="-128"/>
              </a:rPr>
              <a:t>形式でのバックアップ・ダウンロード自在
👉 サーバー契約不要・完全無料で利用可能！</a:t>
            </a:r>
          </a:p>
        </p:txBody>
      </p:sp>
    </p:spTree>
    <p:extLst>
      <p:ext uri="{BB962C8B-B14F-4D97-AF65-F5344CB8AC3E}">
        <p14:creationId xmlns:p14="http://schemas.microsoft.com/office/powerpoint/2010/main" val="27972393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A85DCC94-4F7E-6B4D-F0E9-DD92F442B2F7}"/>
              </a:ext>
            </a:extLst>
          </p:cNvPr>
          <p:cNvSpPr/>
          <p:nvPr/>
        </p:nvSpPr>
        <p:spPr>
          <a:xfrm>
            <a:off x="0" y="0"/>
            <a:ext cx="12192000" cy="1016000"/>
          </a:xfrm>
          <a:prstGeom prst="rect">
            <a:avLst/>
          </a:prstGeom>
          <a:solidFill>
            <a:srgbClr val="1E3A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98260A9F-BD50-5116-B8AB-CFB8CECA81C7}"/>
              </a:ext>
            </a:extLst>
          </p:cNvPr>
          <p:cNvSpPr txBox="1"/>
          <p:nvPr/>
        </p:nvSpPr>
        <p:spPr>
          <a:xfrm>
            <a:off x="508000" y="127000"/>
            <a:ext cx="3810000" cy="276999"/>
          </a:xfrm>
          <a:prstGeom prst="rect">
            <a:avLst/>
          </a:prstGeom>
          <a:noFill/>
        </p:spPr>
        <p:txBody>
          <a:bodyPr vert="horz" rtlCol="0">
            <a:spAutoFit/>
          </a:bodyPr>
          <a:lstStyle/>
          <a:p>
            <a:r>
              <a:rPr kumimoji="1" lang="ja-JP" altLang="en-US" sz="1200" b="1">
                <a:solidFill>
                  <a:srgbClr val="10B981"/>
                </a:solidFill>
                <a:latin typeface="Meiryo" panose="020B0604030504040204" pitchFamily="50" charset="-128"/>
              </a:rPr>
              <a:t>導入ステップ</a:t>
            </a:r>
          </a:p>
        </p:txBody>
      </p:sp>
      <p:sp>
        <p:nvSpPr>
          <p:cNvPr id="4" name="テキスト ボックス 3">
            <a:extLst>
              <a:ext uri="{FF2B5EF4-FFF2-40B4-BE49-F238E27FC236}">
                <a16:creationId xmlns:a16="http://schemas.microsoft.com/office/drawing/2014/main" id="{BBCAF850-7261-52BB-1F58-1ABD59252720}"/>
              </a:ext>
            </a:extLst>
          </p:cNvPr>
          <p:cNvSpPr txBox="1"/>
          <p:nvPr/>
        </p:nvSpPr>
        <p:spPr>
          <a:xfrm>
            <a:off x="508000" y="381000"/>
            <a:ext cx="11176000" cy="430887"/>
          </a:xfrm>
          <a:prstGeom prst="rect">
            <a:avLst/>
          </a:prstGeom>
          <a:noFill/>
        </p:spPr>
        <p:txBody>
          <a:bodyPr vert="horz" rtlCol="0">
            <a:spAutoFit/>
          </a:bodyPr>
          <a:lstStyle/>
          <a:p>
            <a:r>
              <a:rPr kumimoji="1" lang="ja-JP" altLang="en-US" sz="2200" b="1">
                <a:solidFill>
                  <a:srgbClr val="FFFFFF"/>
                </a:solidFill>
                <a:latin typeface="Meiryo" panose="020B0604030504040204" pitchFamily="50" charset="-128"/>
              </a:rPr>
              <a:t>導入の全体像（約</a:t>
            </a:r>
            <a:r>
              <a:rPr kumimoji="1" lang="en-US" altLang="ja-JP" sz="2200" b="1">
                <a:solidFill>
                  <a:srgbClr val="FFFFFF"/>
                </a:solidFill>
                <a:latin typeface="Meiryo" panose="020B0604030504040204" pitchFamily="50" charset="-128"/>
              </a:rPr>
              <a:t>15〜20</a:t>
            </a:r>
            <a:r>
              <a:rPr kumimoji="1" lang="ja-JP" altLang="en-US" sz="2200" b="1">
                <a:solidFill>
                  <a:srgbClr val="FFFFFF"/>
                </a:solidFill>
                <a:latin typeface="Meiryo" panose="020B0604030504040204" pitchFamily="50" charset="-128"/>
              </a:rPr>
              <a:t>分で初期設定完了）</a:t>
            </a:r>
          </a:p>
        </p:txBody>
      </p:sp>
      <p:sp>
        <p:nvSpPr>
          <p:cNvPr id="5" name="正方形/長方形 4">
            <a:extLst>
              <a:ext uri="{FF2B5EF4-FFF2-40B4-BE49-F238E27FC236}">
                <a16:creationId xmlns:a16="http://schemas.microsoft.com/office/drawing/2014/main" id="{1AA3A79A-AC07-5823-D87E-7ECD6D145A83}"/>
              </a:ext>
            </a:extLst>
          </p:cNvPr>
          <p:cNvSpPr/>
          <p:nvPr/>
        </p:nvSpPr>
        <p:spPr>
          <a:xfrm>
            <a:off x="635000" y="1778000"/>
            <a:ext cx="3492500" cy="4064000"/>
          </a:xfrm>
          <a:prstGeom prst="rect">
            <a:avLst/>
          </a:prstGeom>
          <a:solidFill>
            <a:srgbClr val="FCFAF8"/>
          </a:solidFill>
          <a:ln>
            <a:solidFill>
              <a:srgbClr val="E1D5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楕円 5">
            <a:extLst>
              <a:ext uri="{FF2B5EF4-FFF2-40B4-BE49-F238E27FC236}">
                <a16:creationId xmlns:a16="http://schemas.microsoft.com/office/drawing/2014/main" id="{A9FE587D-6F85-B863-EC03-3B37BE66826A}"/>
              </a:ext>
            </a:extLst>
          </p:cNvPr>
          <p:cNvSpPr/>
          <p:nvPr/>
        </p:nvSpPr>
        <p:spPr>
          <a:xfrm>
            <a:off x="889000" y="2032000"/>
            <a:ext cx="457200" cy="457200"/>
          </a:xfrm>
          <a:prstGeom prst="ellipse">
            <a:avLst/>
          </a:prstGeom>
          <a:solidFill>
            <a:srgbClr val="1E3A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a:solidFill>
                  <a:srgbClr val="FFFFFF"/>
                </a:solidFill>
              </a:rPr>
              <a:t>1</a:t>
            </a:r>
            <a:endParaRPr kumimoji="1" lang="ja-JP" altLang="en-US" b="1">
              <a:solidFill>
                <a:srgbClr val="FFFFFF"/>
              </a:solidFill>
            </a:endParaRPr>
          </a:p>
        </p:txBody>
      </p:sp>
      <p:sp>
        <p:nvSpPr>
          <p:cNvPr id="7" name="テキスト ボックス 6">
            <a:extLst>
              <a:ext uri="{FF2B5EF4-FFF2-40B4-BE49-F238E27FC236}">
                <a16:creationId xmlns:a16="http://schemas.microsoft.com/office/drawing/2014/main" id="{B1B28DD1-C07B-302B-9601-84B7CA940292}"/>
              </a:ext>
            </a:extLst>
          </p:cNvPr>
          <p:cNvSpPr txBox="1"/>
          <p:nvPr/>
        </p:nvSpPr>
        <p:spPr>
          <a:xfrm>
            <a:off x="825500" y="2667000"/>
            <a:ext cx="3111500" cy="338554"/>
          </a:xfrm>
          <a:prstGeom prst="rect">
            <a:avLst/>
          </a:prstGeom>
          <a:noFill/>
        </p:spPr>
        <p:txBody>
          <a:bodyPr vert="horz" rtlCol="0">
            <a:spAutoFit/>
          </a:bodyPr>
          <a:lstStyle/>
          <a:p>
            <a:r>
              <a:rPr kumimoji="1" lang="ja-JP" altLang="en-US" sz="1600" b="1">
                <a:solidFill>
                  <a:srgbClr val="1E3A8A"/>
                </a:solidFill>
                <a:latin typeface="Meiryo" panose="020B0604030504040204" pitchFamily="50" charset="-128"/>
              </a:rPr>
              <a:t>シート作成＆コード設置</a:t>
            </a:r>
          </a:p>
        </p:txBody>
      </p:sp>
      <p:sp>
        <p:nvSpPr>
          <p:cNvPr id="8" name="テキスト ボックス 7">
            <a:extLst>
              <a:ext uri="{FF2B5EF4-FFF2-40B4-BE49-F238E27FC236}">
                <a16:creationId xmlns:a16="http://schemas.microsoft.com/office/drawing/2014/main" id="{78C35B74-690A-6E56-DB0F-19AD5F7BF450}"/>
              </a:ext>
            </a:extLst>
          </p:cNvPr>
          <p:cNvSpPr txBox="1"/>
          <p:nvPr/>
        </p:nvSpPr>
        <p:spPr>
          <a:xfrm>
            <a:off x="825500" y="3429000"/>
            <a:ext cx="3111500" cy="692497"/>
          </a:xfrm>
          <a:prstGeom prst="rect">
            <a:avLst/>
          </a:prstGeom>
          <a:noFill/>
        </p:spPr>
        <p:txBody>
          <a:bodyPr vert="horz" rtlCol="0">
            <a:spAutoFit/>
          </a:bodyPr>
          <a:lstStyle/>
          <a:p>
            <a:r>
              <a:rPr kumimoji="1" lang="ja-JP" altLang="en-US" sz="1300">
                <a:solidFill>
                  <a:srgbClr val="554133"/>
                </a:solidFill>
                <a:latin typeface="Meiryo" panose="020B0604030504040204" pitchFamily="50" charset="-128"/>
              </a:rPr>
              <a:t>・</a:t>
            </a:r>
            <a:r>
              <a:rPr kumimoji="1" lang="en-US" altLang="ja-JP" sz="1300">
                <a:solidFill>
                  <a:srgbClr val="554133"/>
                </a:solidFill>
                <a:latin typeface="Meiryo" panose="020B0604030504040204" pitchFamily="50" charset="-128"/>
              </a:rPr>
              <a:t>Google</a:t>
            </a:r>
            <a:r>
              <a:rPr kumimoji="1" lang="ja-JP" altLang="en-US" sz="1300">
                <a:solidFill>
                  <a:srgbClr val="554133"/>
                </a:solidFill>
                <a:latin typeface="Meiryo" panose="020B0604030504040204" pitchFamily="50" charset="-128"/>
              </a:rPr>
              <a:t>ドライブで新規シート作成
・</a:t>
            </a:r>
            <a:r>
              <a:rPr kumimoji="1" lang="en-US" altLang="ja-JP" sz="1300">
                <a:solidFill>
                  <a:srgbClr val="554133"/>
                </a:solidFill>
                <a:latin typeface="Meiryo" panose="020B0604030504040204" pitchFamily="50" charset="-128"/>
              </a:rPr>
              <a:t>Apps Script</a:t>
            </a:r>
            <a:r>
              <a:rPr kumimoji="1" lang="ja-JP" altLang="en-US" sz="1300">
                <a:solidFill>
                  <a:srgbClr val="554133"/>
                </a:solidFill>
                <a:latin typeface="Meiryo" panose="020B0604030504040204" pitchFamily="50" charset="-128"/>
              </a:rPr>
              <a:t>エディタを開く
・</a:t>
            </a:r>
            <a:r>
              <a:rPr kumimoji="1" lang="en-US" altLang="ja-JP" sz="1300">
                <a:solidFill>
                  <a:srgbClr val="554133"/>
                </a:solidFill>
                <a:latin typeface="Meiryo" panose="020B0604030504040204" pitchFamily="50" charset="-128"/>
              </a:rPr>
              <a:t>Code.js</a:t>
            </a:r>
            <a:r>
              <a:rPr kumimoji="1" lang="ja-JP" altLang="en-US" sz="1300">
                <a:solidFill>
                  <a:srgbClr val="554133"/>
                </a:solidFill>
                <a:latin typeface="Meiryo" panose="020B0604030504040204" pitchFamily="50" charset="-128"/>
              </a:rPr>
              <a:t>を丸ごと貼り付けて保存</a:t>
            </a:r>
          </a:p>
        </p:txBody>
      </p:sp>
      <p:sp>
        <p:nvSpPr>
          <p:cNvPr id="9" name="正方形/長方形 8">
            <a:extLst>
              <a:ext uri="{FF2B5EF4-FFF2-40B4-BE49-F238E27FC236}">
                <a16:creationId xmlns:a16="http://schemas.microsoft.com/office/drawing/2014/main" id="{1E253C1E-988C-AAC8-D83B-08F2FE47C117}"/>
              </a:ext>
            </a:extLst>
          </p:cNvPr>
          <p:cNvSpPr/>
          <p:nvPr/>
        </p:nvSpPr>
        <p:spPr>
          <a:xfrm>
            <a:off x="4381500" y="1778000"/>
            <a:ext cx="3492500" cy="4064000"/>
          </a:xfrm>
          <a:prstGeom prst="rect">
            <a:avLst/>
          </a:prstGeom>
          <a:solidFill>
            <a:srgbClr val="FCFAF8"/>
          </a:solidFill>
          <a:ln>
            <a:solidFill>
              <a:srgbClr val="E1D5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E3CDF6D9-0892-3E63-318B-53A85F3E8053}"/>
              </a:ext>
            </a:extLst>
          </p:cNvPr>
          <p:cNvSpPr/>
          <p:nvPr/>
        </p:nvSpPr>
        <p:spPr>
          <a:xfrm>
            <a:off x="4635500" y="2032000"/>
            <a:ext cx="457200" cy="457200"/>
          </a:xfrm>
          <a:prstGeom prst="ellipse">
            <a:avLst/>
          </a:prstGeom>
          <a:solidFill>
            <a:srgbClr val="1E3A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a:solidFill>
                  <a:srgbClr val="FFFFFF"/>
                </a:solidFill>
              </a:rPr>
              <a:t>2</a:t>
            </a:r>
            <a:endParaRPr kumimoji="1" lang="ja-JP" altLang="en-US" b="1">
              <a:solidFill>
                <a:srgbClr val="FFFFFF"/>
              </a:solidFill>
            </a:endParaRPr>
          </a:p>
        </p:txBody>
      </p:sp>
      <p:sp>
        <p:nvSpPr>
          <p:cNvPr id="11" name="テキスト ボックス 10">
            <a:extLst>
              <a:ext uri="{FF2B5EF4-FFF2-40B4-BE49-F238E27FC236}">
                <a16:creationId xmlns:a16="http://schemas.microsoft.com/office/drawing/2014/main" id="{6019F20C-749B-C0E7-9F81-B4C0A26EFEA7}"/>
              </a:ext>
            </a:extLst>
          </p:cNvPr>
          <p:cNvSpPr txBox="1"/>
          <p:nvPr/>
        </p:nvSpPr>
        <p:spPr>
          <a:xfrm>
            <a:off x="4572000" y="2667000"/>
            <a:ext cx="3111500" cy="338554"/>
          </a:xfrm>
          <a:prstGeom prst="rect">
            <a:avLst/>
          </a:prstGeom>
          <a:noFill/>
        </p:spPr>
        <p:txBody>
          <a:bodyPr vert="horz" rtlCol="0">
            <a:spAutoFit/>
          </a:bodyPr>
          <a:lstStyle/>
          <a:p>
            <a:r>
              <a:rPr kumimoji="1" lang="ja-JP" altLang="en-US" sz="1600" b="1">
                <a:solidFill>
                  <a:srgbClr val="1E3A8A"/>
                </a:solidFill>
                <a:latin typeface="Meiryo" panose="020B0604030504040204" pitchFamily="50" charset="-128"/>
              </a:rPr>
              <a:t>自動初期化＆デプロイ</a:t>
            </a:r>
          </a:p>
        </p:txBody>
      </p:sp>
      <p:sp>
        <p:nvSpPr>
          <p:cNvPr id="12" name="テキスト ボックス 11">
            <a:extLst>
              <a:ext uri="{FF2B5EF4-FFF2-40B4-BE49-F238E27FC236}">
                <a16:creationId xmlns:a16="http://schemas.microsoft.com/office/drawing/2014/main" id="{0A4EA20E-CC98-E651-E476-2B4569D8850A}"/>
              </a:ext>
            </a:extLst>
          </p:cNvPr>
          <p:cNvSpPr txBox="1"/>
          <p:nvPr/>
        </p:nvSpPr>
        <p:spPr>
          <a:xfrm>
            <a:off x="4572000" y="3429000"/>
            <a:ext cx="3111500" cy="892552"/>
          </a:xfrm>
          <a:prstGeom prst="rect">
            <a:avLst/>
          </a:prstGeom>
          <a:noFill/>
        </p:spPr>
        <p:txBody>
          <a:bodyPr vert="horz" rtlCol="0">
            <a:spAutoFit/>
          </a:bodyPr>
          <a:lstStyle/>
          <a:p>
            <a:r>
              <a:rPr kumimoji="1" lang="ja-JP" altLang="en-US" sz="1300">
                <a:solidFill>
                  <a:srgbClr val="554133"/>
                </a:solidFill>
                <a:latin typeface="Meiryo" panose="020B0604030504040204" pitchFamily="50" charset="-128"/>
              </a:rPr>
              <a:t>・</a:t>
            </a:r>
            <a:r>
              <a:rPr kumimoji="1" lang="en-US" altLang="ja-JP" sz="1300">
                <a:solidFill>
                  <a:srgbClr val="554133"/>
                </a:solidFill>
                <a:latin typeface="Meiryo" panose="020B0604030504040204" pitchFamily="50" charset="-128"/>
              </a:rPr>
              <a:t>initSheets</a:t>
            </a:r>
            <a:r>
              <a:rPr kumimoji="1" lang="ja-JP" altLang="en-US" sz="1300">
                <a:solidFill>
                  <a:srgbClr val="554133"/>
                </a:solidFill>
                <a:latin typeface="Meiryo" panose="020B0604030504040204" pitchFamily="50" charset="-128"/>
              </a:rPr>
              <a:t>を実行して</a:t>
            </a:r>
            <a:r>
              <a:rPr kumimoji="1" lang="en-US" altLang="ja-JP" sz="1300">
                <a:solidFill>
                  <a:srgbClr val="554133"/>
                </a:solidFill>
                <a:latin typeface="Meiryo" panose="020B0604030504040204" pitchFamily="50" charset="-128"/>
              </a:rPr>
              <a:t>3</a:t>
            </a:r>
            <a:r>
              <a:rPr kumimoji="1" lang="ja-JP" altLang="en-US" sz="1300">
                <a:solidFill>
                  <a:srgbClr val="554133"/>
                </a:solidFill>
                <a:latin typeface="Meiryo" panose="020B0604030504040204" pitchFamily="50" charset="-128"/>
              </a:rPr>
              <a:t>シート生成
・</a:t>
            </a:r>
            <a:r>
              <a:rPr kumimoji="1" lang="en-US" altLang="ja-JP" sz="1300">
                <a:solidFill>
                  <a:srgbClr val="554133"/>
                </a:solidFill>
                <a:latin typeface="Meiryo" panose="020B0604030504040204" pitchFamily="50" charset="-128"/>
              </a:rPr>
              <a:t>Web</a:t>
            </a:r>
            <a:r>
              <a:rPr kumimoji="1" lang="ja-JP" altLang="en-US" sz="1300">
                <a:solidFill>
                  <a:srgbClr val="554133"/>
                </a:solidFill>
                <a:latin typeface="Meiryo" panose="020B0604030504040204" pitchFamily="50" charset="-128"/>
              </a:rPr>
              <a:t>アプリとしてデプロイ（全員公開）
・発行された</a:t>
            </a:r>
            <a:r>
              <a:rPr kumimoji="1" lang="en-US" altLang="ja-JP" sz="1300">
                <a:solidFill>
                  <a:srgbClr val="554133"/>
                </a:solidFill>
                <a:latin typeface="Meiryo" panose="020B0604030504040204" pitchFamily="50" charset="-128"/>
              </a:rPr>
              <a:t>Web App URL</a:t>
            </a:r>
            <a:r>
              <a:rPr kumimoji="1" lang="ja-JP" altLang="en-US" sz="1300">
                <a:solidFill>
                  <a:srgbClr val="554133"/>
                </a:solidFill>
                <a:latin typeface="Meiryo" panose="020B0604030504040204" pitchFamily="50" charset="-128"/>
              </a:rPr>
              <a:t>をコピー</a:t>
            </a:r>
          </a:p>
        </p:txBody>
      </p:sp>
      <p:sp>
        <p:nvSpPr>
          <p:cNvPr id="13" name="正方形/長方形 12">
            <a:extLst>
              <a:ext uri="{FF2B5EF4-FFF2-40B4-BE49-F238E27FC236}">
                <a16:creationId xmlns:a16="http://schemas.microsoft.com/office/drawing/2014/main" id="{91A340EA-BEFA-3A23-B566-54BBB9F0A55B}"/>
              </a:ext>
            </a:extLst>
          </p:cNvPr>
          <p:cNvSpPr/>
          <p:nvPr/>
        </p:nvSpPr>
        <p:spPr>
          <a:xfrm>
            <a:off x="8128000" y="1778000"/>
            <a:ext cx="3492500" cy="4064000"/>
          </a:xfrm>
          <a:prstGeom prst="rect">
            <a:avLst/>
          </a:prstGeom>
          <a:solidFill>
            <a:srgbClr val="FCFAF8"/>
          </a:solidFill>
          <a:ln>
            <a:solidFill>
              <a:srgbClr val="E1D5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楕円 13">
            <a:extLst>
              <a:ext uri="{FF2B5EF4-FFF2-40B4-BE49-F238E27FC236}">
                <a16:creationId xmlns:a16="http://schemas.microsoft.com/office/drawing/2014/main" id="{3A4AE446-1CC2-3D68-E353-28A63FCA0C21}"/>
              </a:ext>
            </a:extLst>
          </p:cNvPr>
          <p:cNvSpPr/>
          <p:nvPr/>
        </p:nvSpPr>
        <p:spPr>
          <a:xfrm>
            <a:off x="8382000" y="2032000"/>
            <a:ext cx="457200" cy="457200"/>
          </a:xfrm>
          <a:prstGeom prst="ellipse">
            <a:avLst/>
          </a:prstGeom>
          <a:solidFill>
            <a:srgbClr val="1E3A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a:solidFill>
                  <a:srgbClr val="FFFFFF"/>
                </a:solidFill>
              </a:rPr>
              <a:t>3</a:t>
            </a:r>
            <a:endParaRPr kumimoji="1" lang="ja-JP" altLang="en-US" b="1">
              <a:solidFill>
                <a:srgbClr val="FFFFFF"/>
              </a:solidFill>
            </a:endParaRPr>
          </a:p>
        </p:txBody>
      </p:sp>
      <p:sp>
        <p:nvSpPr>
          <p:cNvPr id="15" name="テキスト ボックス 14">
            <a:extLst>
              <a:ext uri="{FF2B5EF4-FFF2-40B4-BE49-F238E27FC236}">
                <a16:creationId xmlns:a16="http://schemas.microsoft.com/office/drawing/2014/main" id="{5CE413B4-0C5A-77EE-1498-A3867FB4F3E9}"/>
              </a:ext>
            </a:extLst>
          </p:cNvPr>
          <p:cNvSpPr txBox="1"/>
          <p:nvPr/>
        </p:nvSpPr>
        <p:spPr>
          <a:xfrm>
            <a:off x="8318500" y="2667000"/>
            <a:ext cx="3111500" cy="338554"/>
          </a:xfrm>
          <a:prstGeom prst="rect">
            <a:avLst/>
          </a:prstGeom>
          <a:noFill/>
        </p:spPr>
        <p:txBody>
          <a:bodyPr vert="horz" rtlCol="0">
            <a:spAutoFit/>
          </a:bodyPr>
          <a:lstStyle/>
          <a:p>
            <a:r>
              <a:rPr kumimoji="1" lang="ja-JP" altLang="en-US" sz="1600" b="1">
                <a:solidFill>
                  <a:srgbClr val="1E3A8A"/>
                </a:solidFill>
                <a:latin typeface="Meiryo" panose="020B0604030504040204" pitchFamily="50" charset="-128"/>
              </a:rPr>
              <a:t>アプリ連携＆データ登録</a:t>
            </a:r>
          </a:p>
        </p:txBody>
      </p:sp>
      <p:sp>
        <p:nvSpPr>
          <p:cNvPr id="16" name="テキスト ボックス 15">
            <a:extLst>
              <a:ext uri="{FF2B5EF4-FFF2-40B4-BE49-F238E27FC236}">
                <a16:creationId xmlns:a16="http://schemas.microsoft.com/office/drawing/2014/main" id="{7B134CF6-D22D-AABD-A4BE-97F2A2A7E0C2}"/>
              </a:ext>
            </a:extLst>
          </p:cNvPr>
          <p:cNvSpPr txBox="1"/>
          <p:nvPr/>
        </p:nvSpPr>
        <p:spPr>
          <a:xfrm>
            <a:off x="8318500" y="3429000"/>
            <a:ext cx="3111500" cy="1092607"/>
          </a:xfrm>
          <a:prstGeom prst="rect">
            <a:avLst/>
          </a:prstGeom>
          <a:noFill/>
        </p:spPr>
        <p:txBody>
          <a:bodyPr vert="horz" rtlCol="0">
            <a:spAutoFit/>
          </a:bodyPr>
          <a:lstStyle/>
          <a:p>
            <a:r>
              <a:rPr kumimoji="1" lang="ja-JP" altLang="en-US" sz="1300">
                <a:solidFill>
                  <a:srgbClr val="554133"/>
                </a:solidFill>
                <a:latin typeface="Meiryo" panose="020B0604030504040204" pitchFamily="50" charset="-128"/>
              </a:rPr>
              <a:t>・</a:t>
            </a:r>
            <a:r>
              <a:rPr kumimoji="1" lang="en-US" altLang="ja-JP" sz="1300">
                <a:solidFill>
                  <a:srgbClr val="554133"/>
                </a:solidFill>
                <a:latin typeface="Meiryo" panose="020B0604030504040204" pitchFamily="50" charset="-128"/>
              </a:rPr>
              <a:t>Web</a:t>
            </a:r>
            <a:r>
              <a:rPr kumimoji="1" lang="ja-JP" altLang="en-US" sz="1300">
                <a:solidFill>
                  <a:srgbClr val="554133"/>
                </a:solidFill>
                <a:latin typeface="Meiryo" panose="020B0604030504040204" pitchFamily="50" charset="-128"/>
              </a:rPr>
              <a:t>アプリ設定画面に</a:t>
            </a:r>
            <a:r>
              <a:rPr kumimoji="1" lang="en-US" altLang="ja-JP" sz="1300">
                <a:solidFill>
                  <a:srgbClr val="554133"/>
                </a:solidFill>
                <a:latin typeface="Meiryo" panose="020B0604030504040204" pitchFamily="50" charset="-128"/>
              </a:rPr>
              <a:t>URL</a:t>
            </a:r>
            <a:r>
              <a:rPr kumimoji="1" lang="ja-JP" altLang="en-US" sz="1300">
                <a:solidFill>
                  <a:srgbClr val="554133"/>
                </a:solidFill>
                <a:latin typeface="Meiryo" panose="020B0604030504040204" pitchFamily="50" charset="-128"/>
              </a:rPr>
              <a:t>を登録
・システム設定で自治会名や合言葉を設定
・既存名簿をシートに入力して即利用開始！</a:t>
            </a:r>
          </a:p>
        </p:txBody>
      </p:sp>
    </p:spTree>
    <p:extLst>
      <p:ext uri="{BB962C8B-B14F-4D97-AF65-F5344CB8AC3E}">
        <p14:creationId xmlns:p14="http://schemas.microsoft.com/office/powerpoint/2010/main" val="32308641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BABE2863-7661-8F9B-FF83-83BBBBF7AAD2}"/>
              </a:ext>
            </a:extLst>
          </p:cNvPr>
          <p:cNvSpPr/>
          <p:nvPr/>
        </p:nvSpPr>
        <p:spPr>
          <a:xfrm>
            <a:off x="0" y="0"/>
            <a:ext cx="12192000" cy="1016000"/>
          </a:xfrm>
          <a:prstGeom prst="rect">
            <a:avLst/>
          </a:prstGeom>
          <a:solidFill>
            <a:srgbClr val="1E3A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9599E49B-F2B0-7C73-22F1-08A5DC035B6D}"/>
              </a:ext>
            </a:extLst>
          </p:cNvPr>
          <p:cNvSpPr txBox="1"/>
          <p:nvPr/>
        </p:nvSpPr>
        <p:spPr>
          <a:xfrm>
            <a:off x="508000" y="127000"/>
            <a:ext cx="3810000" cy="276999"/>
          </a:xfrm>
          <a:prstGeom prst="rect">
            <a:avLst/>
          </a:prstGeom>
          <a:noFill/>
        </p:spPr>
        <p:txBody>
          <a:bodyPr vert="horz" rtlCol="0">
            <a:spAutoFit/>
          </a:bodyPr>
          <a:lstStyle/>
          <a:p>
            <a:r>
              <a:rPr kumimoji="1" lang="en-US" altLang="ja-JP" sz="1200" b="1">
                <a:solidFill>
                  <a:srgbClr val="10B981"/>
                </a:solidFill>
                <a:latin typeface="Meiryo" panose="020B0604030504040204" pitchFamily="50" charset="-128"/>
              </a:rPr>
              <a:t>STEP 1</a:t>
            </a:r>
            <a:endParaRPr kumimoji="1" lang="ja-JP" altLang="en-US" sz="1200" b="1">
              <a:solidFill>
                <a:srgbClr val="10B981"/>
              </a:solidFill>
              <a:latin typeface="Meiryo" panose="020B0604030504040204" pitchFamily="50" charset="-128"/>
            </a:endParaRPr>
          </a:p>
        </p:txBody>
      </p:sp>
      <p:sp>
        <p:nvSpPr>
          <p:cNvPr id="4" name="テキスト ボックス 3">
            <a:extLst>
              <a:ext uri="{FF2B5EF4-FFF2-40B4-BE49-F238E27FC236}">
                <a16:creationId xmlns:a16="http://schemas.microsoft.com/office/drawing/2014/main" id="{199BF730-7BA5-D25D-8B06-720172412A24}"/>
              </a:ext>
            </a:extLst>
          </p:cNvPr>
          <p:cNvSpPr txBox="1"/>
          <p:nvPr/>
        </p:nvSpPr>
        <p:spPr>
          <a:xfrm>
            <a:off x="508000" y="381000"/>
            <a:ext cx="11176000" cy="430887"/>
          </a:xfrm>
          <a:prstGeom prst="rect">
            <a:avLst/>
          </a:prstGeom>
          <a:noFill/>
        </p:spPr>
        <p:txBody>
          <a:bodyPr vert="horz" rtlCol="0">
            <a:spAutoFit/>
          </a:bodyPr>
          <a:lstStyle/>
          <a:p>
            <a:r>
              <a:rPr kumimoji="1" lang="en-US" altLang="ja-JP" sz="2200" b="1">
                <a:solidFill>
                  <a:srgbClr val="FFFFFF"/>
                </a:solidFill>
                <a:latin typeface="Meiryo" panose="020B0604030504040204" pitchFamily="50" charset="-128"/>
              </a:rPr>
              <a:t>Google</a:t>
            </a:r>
            <a:r>
              <a:rPr kumimoji="1" lang="ja-JP" altLang="en-US" sz="2200" b="1">
                <a:solidFill>
                  <a:srgbClr val="FFFFFF"/>
                </a:solidFill>
                <a:latin typeface="Meiryo" panose="020B0604030504040204" pitchFamily="50" charset="-128"/>
              </a:rPr>
              <a:t>スプレッドシートの作成とスクリプト設置</a:t>
            </a:r>
          </a:p>
        </p:txBody>
      </p:sp>
      <p:sp>
        <p:nvSpPr>
          <p:cNvPr id="5" name="正方形/長方形 4">
            <a:extLst>
              <a:ext uri="{FF2B5EF4-FFF2-40B4-BE49-F238E27FC236}">
                <a16:creationId xmlns:a16="http://schemas.microsoft.com/office/drawing/2014/main" id="{7553A2A9-0DD8-F20D-BD1C-1C33F88146D0}"/>
              </a:ext>
            </a:extLst>
          </p:cNvPr>
          <p:cNvSpPr/>
          <p:nvPr/>
        </p:nvSpPr>
        <p:spPr>
          <a:xfrm>
            <a:off x="635000" y="1524000"/>
            <a:ext cx="10922000" cy="4572000"/>
          </a:xfrm>
          <a:prstGeom prst="rect">
            <a:avLst/>
          </a:prstGeom>
          <a:solidFill>
            <a:srgbClr val="FFFFFF"/>
          </a:solidFill>
          <a:ln>
            <a:solidFill>
              <a:srgbClr val="E1D5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rgbClr val="3B291E"/>
                </a:solidFill>
                <a:latin typeface="Meiryo" panose="020B0604030504040204" pitchFamily="50" charset="-128"/>
              </a:rPr>
              <a:t>1. Google</a:t>
            </a:r>
            <a:r>
              <a:rPr kumimoji="1" lang="ja-JP" altLang="en-US" sz="1400">
                <a:solidFill>
                  <a:srgbClr val="3B291E"/>
                </a:solidFill>
                <a:latin typeface="Meiryo" panose="020B0604030504040204" pitchFamily="50" charset="-128"/>
              </a:rPr>
              <a:t>ドライブで新規スプレッドシートを作成
   ・</a:t>
            </a:r>
            <a:r>
              <a:rPr kumimoji="1" lang="en-US" altLang="ja-JP" sz="1400">
                <a:solidFill>
                  <a:srgbClr val="3B291E"/>
                </a:solidFill>
                <a:latin typeface="Meiryo" panose="020B0604030504040204" pitchFamily="50" charset="-128"/>
              </a:rPr>
              <a:t>Google</a:t>
            </a:r>
            <a:r>
              <a:rPr kumimoji="1" lang="ja-JP" altLang="en-US" sz="1400">
                <a:solidFill>
                  <a:srgbClr val="3B291E"/>
                </a:solidFill>
                <a:latin typeface="Meiryo" panose="020B0604030504040204" pitchFamily="50" charset="-128"/>
              </a:rPr>
              <a:t>ドライブ（</a:t>
            </a:r>
            <a:r>
              <a:rPr kumimoji="1" lang="en-US" altLang="ja-JP" sz="1400">
                <a:solidFill>
                  <a:srgbClr val="3B291E"/>
                </a:solidFill>
                <a:latin typeface="Meiryo" panose="020B0604030504040204" pitchFamily="50" charset="-128"/>
              </a:rPr>
              <a:t>https://drive.google.com/</a:t>
            </a:r>
            <a:r>
              <a:rPr kumimoji="1" lang="ja-JP" altLang="en-US" sz="1400">
                <a:solidFill>
                  <a:srgbClr val="3B291E"/>
                </a:solidFill>
                <a:latin typeface="Meiryo" panose="020B0604030504040204" pitchFamily="50" charset="-128"/>
              </a:rPr>
              <a:t>）を開き、「＋ 新規」＞「</a:t>
            </a:r>
            <a:r>
              <a:rPr kumimoji="1" lang="en-US" altLang="ja-JP" sz="1400">
                <a:solidFill>
                  <a:srgbClr val="3B291E"/>
                </a:solidFill>
                <a:latin typeface="Meiryo" panose="020B0604030504040204" pitchFamily="50" charset="-128"/>
              </a:rPr>
              <a:t>Google</a:t>
            </a:r>
            <a:r>
              <a:rPr kumimoji="1" lang="ja-JP" altLang="en-US" sz="1400">
                <a:solidFill>
                  <a:srgbClr val="3B291E"/>
                </a:solidFill>
                <a:latin typeface="Meiryo" panose="020B0604030504040204" pitchFamily="50" charset="-128"/>
              </a:rPr>
              <a:t>スプレッドシート」をクリック。
   ・シート名をお好きな名称（例</a:t>
            </a:r>
            <a:r>
              <a:rPr kumimoji="1" lang="en-US" altLang="ja-JP" sz="1400">
                <a:solidFill>
                  <a:srgbClr val="3B291E"/>
                </a:solidFill>
                <a:latin typeface="Meiryo" panose="020B0604030504040204" pitchFamily="50" charset="-128"/>
              </a:rPr>
              <a:t>: </a:t>
            </a:r>
            <a:r>
              <a:rPr kumimoji="1" lang="ja-JP" altLang="en-US" sz="1400">
                <a:solidFill>
                  <a:srgbClr val="3B291E"/>
                </a:solidFill>
                <a:latin typeface="Meiryo" panose="020B0604030504040204" pitchFamily="50" charset="-128"/>
              </a:rPr>
              <a:t>「〇〇自治会員名簿」）に変更します。
</a:t>
            </a:r>
            <a:r>
              <a:rPr kumimoji="1" lang="en-US" altLang="ja-JP" sz="1400">
                <a:solidFill>
                  <a:srgbClr val="3B291E"/>
                </a:solidFill>
                <a:latin typeface="Meiryo" panose="020B0604030504040204" pitchFamily="50" charset="-128"/>
              </a:rPr>
              <a:t>2. Google Apps Script</a:t>
            </a:r>
            <a:r>
              <a:rPr kumimoji="1" lang="ja-JP" altLang="en-US" sz="1400">
                <a:solidFill>
                  <a:srgbClr val="3B291E"/>
                </a:solidFill>
                <a:latin typeface="Meiryo" panose="020B0604030504040204" pitchFamily="50" charset="-128"/>
              </a:rPr>
              <a:t>（</a:t>
            </a:r>
            <a:r>
              <a:rPr kumimoji="1" lang="en-US" altLang="ja-JP" sz="1400">
                <a:solidFill>
                  <a:srgbClr val="3B291E"/>
                </a:solidFill>
                <a:latin typeface="Meiryo" panose="020B0604030504040204" pitchFamily="50" charset="-128"/>
              </a:rPr>
              <a:t>GAS</a:t>
            </a:r>
            <a:r>
              <a:rPr kumimoji="1" lang="ja-JP" altLang="en-US" sz="1400">
                <a:solidFill>
                  <a:srgbClr val="3B291E"/>
                </a:solidFill>
                <a:latin typeface="Meiryo" panose="020B0604030504040204" pitchFamily="50" charset="-128"/>
              </a:rPr>
              <a:t>）エディタを開く
   ・スプレッドシート上部メニューの「拡張機能」＞「</a:t>
            </a:r>
            <a:r>
              <a:rPr kumimoji="1" lang="en-US" altLang="ja-JP" sz="1400">
                <a:solidFill>
                  <a:srgbClr val="3B291E"/>
                </a:solidFill>
                <a:latin typeface="Meiryo" panose="020B0604030504040204" pitchFamily="50" charset="-128"/>
              </a:rPr>
              <a:t>Apps Script</a:t>
            </a:r>
            <a:r>
              <a:rPr kumimoji="1" lang="ja-JP" altLang="en-US" sz="1400">
                <a:solidFill>
                  <a:srgbClr val="3B291E"/>
                </a:solidFill>
                <a:latin typeface="Meiryo" panose="020B0604030504040204" pitchFamily="50" charset="-128"/>
              </a:rPr>
              <a:t>」をクリック。
</a:t>
            </a:r>
            <a:r>
              <a:rPr kumimoji="1" lang="en-US" altLang="ja-JP" sz="1400">
                <a:solidFill>
                  <a:srgbClr val="3B291E"/>
                </a:solidFill>
                <a:latin typeface="Meiryo" panose="020B0604030504040204" pitchFamily="50" charset="-128"/>
              </a:rPr>
              <a:t>3. </a:t>
            </a:r>
            <a:r>
              <a:rPr kumimoji="1" lang="ja-JP" altLang="en-US" sz="1400">
                <a:solidFill>
                  <a:srgbClr val="3B291E"/>
                </a:solidFill>
                <a:latin typeface="Meiryo" panose="020B0604030504040204" pitchFamily="50" charset="-128"/>
              </a:rPr>
              <a:t>スクリプト（</a:t>
            </a:r>
            <a:r>
              <a:rPr kumimoji="1" lang="en-US" altLang="ja-JP" sz="1400">
                <a:solidFill>
                  <a:srgbClr val="3B291E"/>
                </a:solidFill>
                <a:latin typeface="Meiryo" panose="020B0604030504040204" pitchFamily="50" charset="-128"/>
              </a:rPr>
              <a:t>Code.js</a:t>
            </a:r>
            <a:r>
              <a:rPr kumimoji="1" lang="ja-JP" altLang="en-US" sz="1400">
                <a:solidFill>
                  <a:srgbClr val="3B291E"/>
                </a:solidFill>
                <a:latin typeface="Meiryo" panose="020B0604030504040204" pitchFamily="50" charset="-128"/>
              </a:rPr>
              <a:t>）を貼り付けて保存
   ・最初からある「</a:t>
            </a:r>
            <a:r>
              <a:rPr kumimoji="1" lang="en-US" altLang="ja-JP" sz="1400">
                <a:solidFill>
                  <a:srgbClr val="3B291E"/>
                </a:solidFill>
                <a:latin typeface="Meiryo" panose="020B0604030504040204" pitchFamily="50" charset="-128"/>
              </a:rPr>
              <a:t>myFunction()</a:t>
            </a:r>
            <a:r>
              <a:rPr kumimoji="1" lang="ja-JP" altLang="en-US" sz="1400">
                <a:solidFill>
                  <a:srgbClr val="3B291E"/>
                </a:solidFill>
                <a:latin typeface="Meiryo" panose="020B0604030504040204" pitchFamily="50" charset="-128"/>
              </a:rPr>
              <a:t>」を全選択して削除。
   ・提供された「</a:t>
            </a:r>
            <a:r>
              <a:rPr kumimoji="1" lang="en-US" altLang="ja-JP" sz="1400">
                <a:solidFill>
                  <a:srgbClr val="3B291E"/>
                </a:solidFill>
                <a:latin typeface="Meiryo" panose="020B0604030504040204" pitchFamily="50" charset="-128"/>
              </a:rPr>
              <a:t>Code.js</a:t>
            </a:r>
            <a:r>
              <a:rPr kumimoji="1" lang="ja-JP" altLang="en-US" sz="1400">
                <a:solidFill>
                  <a:srgbClr val="3B291E"/>
                </a:solidFill>
                <a:latin typeface="Meiryo" panose="020B0604030504040204" pitchFamily="50" charset="-128"/>
              </a:rPr>
              <a:t>」の中身を最初から最後まで丸ごと貼り付け。
   ・上部のフロッピーアイコン（💾 プロジェクトを保存）をクリックして保存します。</a:t>
            </a:r>
          </a:p>
        </p:txBody>
      </p:sp>
    </p:spTree>
    <p:extLst>
      <p:ext uri="{BB962C8B-B14F-4D97-AF65-F5344CB8AC3E}">
        <p14:creationId xmlns:p14="http://schemas.microsoft.com/office/powerpoint/2010/main" val="21115476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2C152F27-E329-48F3-DFC1-AC625D45313B}"/>
              </a:ext>
            </a:extLst>
          </p:cNvPr>
          <p:cNvSpPr/>
          <p:nvPr/>
        </p:nvSpPr>
        <p:spPr>
          <a:xfrm>
            <a:off x="0" y="0"/>
            <a:ext cx="12192000" cy="1016000"/>
          </a:xfrm>
          <a:prstGeom prst="rect">
            <a:avLst/>
          </a:prstGeom>
          <a:solidFill>
            <a:srgbClr val="1E3A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EA9515B2-FF6B-FF7B-0F86-4B7966060824}"/>
              </a:ext>
            </a:extLst>
          </p:cNvPr>
          <p:cNvSpPr txBox="1"/>
          <p:nvPr/>
        </p:nvSpPr>
        <p:spPr>
          <a:xfrm>
            <a:off x="508000" y="127000"/>
            <a:ext cx="3810000" cy="276999"/>
          </a:xfrm>
          <a:prstGeom prst="rect">
            <a:avLst/>
          </a:prstGeom>
          <a:noFill/>
        </p:spPr>
        <p:txBody>
          <a:bodyPr vert="horz" rtlCol="0">
            <a:spAutoFit/>
          </a:bodyPr>
          <a:lstStyle/>
          <a:p>
            <a:r>
              <a:rPr kumimoji="1" lang="en-US" altLang="ja-JP" sz="1200" b="1">
                <a:solidFill>
                  <a:srgbClr val="10B981"/>
                </a:solidFill>
                <a:latin typeface="Meiryo" panose="020B0604030504040204" pitchFamily="50" charset="-128"/>
              </a:rPr>
              <a:t>STEP 2</a:t>
            </a:r>
            <a:endParaRPr kumimoji="1" lang="ja-JP" altLang="en-US" sz="1200" b="1">
              <a:solidFill>
                <a:srgbClr val="10B981"/>
              </a:solidFill>
              <a:latin typeface="Meiryo" panose="020B0604030504040204" pitchFamily="50" charset="-128"/>
            </a:endParaRPr>
          </a:p>
        </p:txBody>
      </p:sp>
      <p:sp>
        <p:nvSpPr>
          <p:cNvPr id="4" name="テキスト ボックス 3">
            <a:extLst>
              <a:ext uri="{FF2B5EF4-FFF2-40B4-BE49-F238E27FC236}">
                <a16:creationId xmlns:a16="http://schemas.microsoft.com/office/drawing/2014/main" id="{CEF9DB3D-E39A-1B7A-A438-62CB9E529CCD}"/>
              </a:ext>
            </a:extLst>
          </p:cNvPr>
          <p:cNvSpPr txBox="1"/>
          <p:nvPr/>
        </p:nvSpPr>
        <p:spPr>
          <a:xfrm>
            <a:off x="508000" y="381000"/>
            <a:ext cx="11176000" cy="430887"/>
          </a:xfrm>
          <a:prstGeom prst="rect">
            <a:avLst/>
          </a:prstGeom>
          <a:noFill/>
        </p:spPr>
        <p:txBody>
          <a:bodyPr vert="horz" rtlCol="0">
            <a:spAutoFit/>
          </a:bodyPr>
          <a:lstStyle/>
          <a:p>
            <a:r>
              <a:rPr kumimoji="1" lang="ja-JP" altLang="en-US" sz="2200" b="1">
                <a:solidFill>
                  <a:srgbClr val="FFFFFF"/>
                </a:solidFill>
                <a:latin typeface="Meiryo" panose="020B0604030504040204" pitchFamily="50" charset="-128"/>
              </a:rPr>
              <a:t>初回初期化（</a:t>
            </a:r>
            <a:r>
              <a:rPr kumimoji="1" lang="en-US" altLang="ja-JP" sz="2200" b="1">
                <a:solidFill>
                  <a:srgbClr val="FFFFFF"/>
                </a:solidFill>
                <a:latin typeface="Meiryo" panose="020B0604030504040204" pitchFamily="50" charset="-128"/>
              </a:rPr>
              <a:t>3</a:t>
            </a:r>
            <a:r>
              <a:rPr kumimoji="1" lang="ja-JP" altLang="en-US" sz="2200" b="1">
                <a:solidFill>
                  <a:srgbClr val="FFFFFF"/>
                </a:solidFill>
                <a:latin typeface="Meiryo" panose="020B0604030504040204" pitchFamily="50" charset="-128"/>
              </a:rPr>
              <a:t>つのシートを自動生成）</a:t>
            </a:r>
          </a:p>
        </p:txBody>
      </p:sp>
      <p:sp>
        <p:nvSpPr>
          <p:cNvPr id="5" name="正方形/長方形 4">
            <a:extLst>
              <a:ext uri="{FF2B5EF4-FFF2-40B4-BE49-F238E27FC236}">
                <a16:creationId xmlns:a16="http://schemas.microsoft.com/office/drawing/2014/main" id="{BD4B6015-78FE-2B6E-E0F7-9AD61C8B3561}"/>
              </a:ext>
            </a:extLst>
          </p:cNvPr>
          <p:cNvSpPr/>
          <p:nvPr/>
        </p:nvSpPr>
        <p:spPr>
          <a:xfrm>
            <a:off x="635000" y="1524000"/>
            <a:ext cx="10922000" cy="4572000"/>
          </a:xfrm>
          <a:prstGeom prst="rect">
            <a:avLst/>
          </a:prstGeom>
          <a:solidFill>
            <a:srgbClr val="FFFFFF"/>
          </a:solidFill>
          <a:ln>
            <a:solidFill>
              <a:srgbClr val="E1D5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rgbClr val="3B291E"/>
                </a:solidFill>
                <a:latin typeface="Meiryo" panose="020B0604030504040204" pitchFamily="50" charset="-128"/>
              </a:rPr>
              <a:t>1. </a:t>
            </a:r>
            <a:r>
              <a:rPr kumimoji="1" lang="ja-JP" altLang="en-US" sz="1400">
                <a:solidFill>
                  <a:srgbClr val="3B291E"/>
                </a:solidFill>
                <a:latin typeface="Meiryo" panose="020B0604030504040204" pitchFamily="50" charset="-128"/>
              </a:rPr>
              <a:t>「</a:t>
            </a:r>
            <a:r>
              <a:rPr kumimoji="1" lang="en-US" altLang="ja-JP" sz="1400">
                <a:solidFill>
                  <a:srgbClr val="3B291E"/>
                </a:solidFill>
                <a:latin typeface="Meiryo" panose="020B0604030504040204" pitchFamily="50" charset="-128"/>
              </a:rPr>
              <a:t>initSheets</a:t>
            </a:r>
            <a:r>
              <a:rPr kumimoji="1" lang="ja-JP" altLang="en-US" sz="1400">
                <a:solidFill>
                  <a:srgbClr val="3B291E"/>
                </a:solidFill>
                <a:latin typeface="Meiryo" panose="020B0604030504040204" pitchFamily="50" charset="-128"/>
              </a:rPr>
              <a:t>」関数を選択して実行
   ・エディタ上部の関数プルダウンから「</a:t>
            </a:r>
            <a:r>
              <a:rPr kumimoji="1" lang="en-US" altLang="ja-JP" sz="1400">
                <a:solidFill>
                  <a:srgbClr val="3B291E"/>
                </a:solidFill>
                <a:latin typeface="Meiryo" panose="020B0604030504040204" pitchFamily="50" charset="-128"/>
              </a:rPr>
              <a:t>initSheets</a:t>
            </a:r>
            <a:r>
              <a:rPr kumimoji="1" lang="ja-JP" altLang="en-US" sz="1400">
                <a:solidFill>
                  <a:srgbClr val="3B291E"/>
                </a:solidFill>
                <a:latin typeface="Meiryo" panose="020B0604030504040204" pitchFamily="50" charset="-128"/>
              </a:rPr>
              <a:t>」を選び、「実行（▶）」をクリック。
</a:t>
            </a:r>
            <a:r>
              <a:rPr kumimoji="1" lang="en-US" altLang="ja-JP" sz="1400">
                <a:solidFill>
                  <a:srgbClr val="3B291E"/>
                </a:solidFill>
                <a:latin typeface="Meiryo" panose="020B0604030504040204" pitchFamily="50" charset="-128"/>
              </a:rPr>
              <a:t>2. </a:t>
            </a:r>
            <a:r>
              <a:rPr kumimoji="1" lang="ja-JP" altLang="en-US" sz="1400">
                <a:solidFill>
                  <a:srgbClr val="3B291E"/>
                </a:solidFill>
                <a:latin typeface="Meiryo" panose="020B0604030504040204" pitchFamily="50" charset="-128"/>
              </a:rPr>
              <a:t>初回のみ「アクセスの承認」画面が表示されるので許可
   ・「権限を確認」をクリック ➜ </a:t>
            </a:r>
            <a:r>
              <a:rPr kumimoji="1" lang="en-US" altLang="ja-JP" sz="1400">
                <a:solidFill>
                  <a:srgbClr val="3B291E"/>
                </a:solidFill>
                <a:latin typeface="Meiryo" panose="020B0604030504040204" pitchFamily="50" charset="-128"/>
              </a:rPr>
              <a:t>Google</a:t>
            </a:r>
            <a:r>
              <a:rPr kumimoji="1" lang="ja-JP" altLang="en-US" sz="1400">
                <a:solidFill>
                  <a:srgbClr val="3B291E"/>
                </a:solidFill>
                <a:latin typeface="Meiryo" panose="020B0604030504040204" pitchFamily="50" charset="-128"/>
              </a:rPr>
              <a:t>アカウントを選択。
   ・「</a:t>
            </a:r>
            <a:r>
              <a:rPr kumimoji="1" lang="en-US" altLang="ja-JP" sz="1400">
                <a:solidFill>
                  <a:srgbClr val="3B291E"/>
                </a:solidFill>
                <a:latin typeface="Meiryo" panose="020B0604030504040204" pitchFamily="50" charset="-128"/>
              </a:rPr>
              <a:t>Google </a:t>
            </a:r>
            <a:r>
              <a:rPr kumimoji="1" lang="ja-JP" altLang="en-US" sz="1400">
                <a:solidFill>
                  <a:srgbClr val="3B291E"/>
                </a:solidFill>
                <a:latin typeface="Meiryo" panose="020B0604030504040204" pitchFamily="50" charset="-128"/>
              </a:rPr>
              <a:t>はこのアプリを検証していません」が出たら、「詳細」＞「〇〇（安全ではないページ）に移動」をクリック。
   ・スプレッドシートへのアクセス権限を「許可」します。
</a:t>
            </a:r>
            <a:r>
              <a:rPr kumimoji="1" lang="en-US" altLang="ja-JP" sz="1400">
                <a:solidFill>
                  <a:srgbClr val="3B291E"/>
                </a:solidFill>
                <a:latin typeface="Meiryo" panose="020B0604030504040204" pitchFamily="50" charset="-128"/>
              </a:rPr>
              <a:t>3. </a:t>
            </a:r>
            <a:r>
              <a:rPr kumimoji="1" lang="ja-JP" altLang="en-US" sz="1400">
                <a:solidFill>
                  <a:srgbClr val="3B291E"/>
                </a:solidFill>
                <a:latin typeface="Meiryo" panose="020B0604030504040204" pitchFamily="50" charset="-128"/>
              </a:rPr>
              <a:t>実行完了後、</a:t>
            </a:r>
            <a:r>
              <a:rPr kumimoji="1" lang="en-US" altLang="ja-JP" sz="1400">
                <a:solidFill>
                  <a:srgbClr val="3B291E"/>
                </a:solidFill>
                <a:latin typeface="Meiryo" panose="020B0604030504040204" pitchFamily="50" charset="-128"/>
              </a:rPr>
              <a:t>3</a:t>
            </a:r>
            <a:r>
              <a:rPr kumimoji="1" lang="ja-JP" altLang="en-US" sz="1400">
                <a:solidFill>
                  <a:srgbClr val="3B291E"/>
                </a:solidFill>
                <a:latin typeface="Meiryo" panose="020B0604030504040204" pitchFamily="50" charset="-128"/>
              </a:rPr>
              <a:t>つのシートが自動作成されることを確認！
   📘「会員名簿」</a:t>
            </a:r>
            <a:r>
              <a:rPr kumimoji="1" lang="en-US" altLang="ja-JP" sz="1400">
                <a:solidFill>
                  <a:srgbClr val="3B291E"/>
                </a:solidFill>
                <a:latin typeface="Meiryo" panose="020B0604030504040204" pitchFamily="50" charset="-128"/>
              </a:rPr>
              <a:t>: </a:t>
            </a:r>
            <a:r>
              <a:rPr kumimoji="1" lang="ja-JP" altLang="en-US" sz="1400">
                <a:solidFill>
                  <a:srgbClr val="3B291E"/>
                </a:solidFill>
                <a:latin typeface="Meiryo" panose="020B0604030504040204" pitchFamily="50" charset="-128"/>
              </a:rPr>
              <a:t>会員データが保存されるメインシート（見出し色</a:t>
            </a:r>
            <a:r>
              <a:rPr kumimoji="1" lang="en-US" altLang="ja-JP" sz="1400">
                <a:solidFill>
                  <a:srgbClr val="3B291E"/>
                </a:solidFill>
                <a:latin typeface="Meiryo" panose="020B0604030504040204" pitchFamily="50" charset="-128"/>
              </a:rPr>
              <a:t>: </a:t>
            </a:r>
            <a:r>
              <a:rPr kumimoji="1" lang="ja-JP" altLang="en-US" sz="1400">
                <a:solidFill>
                  <a:srgbClr val="3B291E"/>
                </a:solidFill>
                <a:latin typeface="Meiryo" panose="020B0604030504040204" pitchFamily="50" charset="-128"/>
              </a:rPr>
              <a:t>青）
   📗「入会申込</a:t>
            </a:r>
            <a:r>
              <a:rPr kumimoji="1" lang="en-US" altLang="ja-JP" sz="1400">
                <a:solidFill>
                  <a:srgbClr val="3B291E"/>
                </a:solidFill>
                <a:latin typeface="Meiryo" panose="020B0604030504040204" pitchFamily="50" charset="-128"/>
              </a:rPr>
              <a:t>_</a:t>
            </a:r>
            <a:r>
              <a:rPr kumimoji="1" lang="ja-JP" altLang="en-US" sz="1400">
                <a:solidFill>
                  <a:srgbClr val="3B291E"/>
                </a:solidFill>
                <a:latin typeface="Meiryo" panose="020B0604030504040204" pitchFamily="50" charset="-128"/>
              </a:rPr>
              <a:t>フォーム連携」</a:t>
            </a:r>
            <a:r>
              <a:rPr kumimoji="1" lang="en-US" altLang="ja-JP" sz="1400">
                <a:solidFill>
                  <a:srgbClr val="3B291E"/>
                </a:solidFill>
                <a:latin typeface="Meiryo" panose="020B0604030504040204" pitchFamily="50" charset="-128"/>
              </a:rPr>
              <a:t>: Google</a:t>
            </a:r>
            <a:r>
              <a:rPr kumimoji="1" lang="ja-JP" altLang="en-US" sz="1400">
                <a:solidFill>
                  <a:srgbClr val="3B291E"/>
                </a:solidFill>
                <a:latin typeface="Meiryo" panose="020B0604030504040204" pitchFamily="50" charset="-128"/>
              </a:rPr>
              <a:t>フォーム受付用シート（見出し色</a:t>
            </a:r>
            <a:r>
              <a:rPr kumimoji="1" lang="en-US" altLang="ja-JP" sz="1400">
                <a:solidFill>
                  <a:srgbClr val="3B291E"/>
                </a:solidFill>
                <a:latin typeface="Meiryo" panose="020B0604030504040204" pitchFamily="50" charset="-128"/>
              </a:rPr>
              <a:t>: </a:t>
            </a:r>
            <a:r>
              <a:rPr kumimoji="1" lang="ja-JP" altLang="en-US" sz="1400">
                <a:solidFill>
                  <a:srgbClr val="3B291E"/>
                </a:solidFill>
                <a:latin typeface="Meiryo" panose="020B0604030504040204" pitchFamily="50" charset="-128"/>
              </a:rPr>
              <a:t>緑）
   ⚙️「システム設定」</a:t>
            </a:r>
            <a:r>
              <a:rPr kumimoji="1" lang="en-US" altLang="ja-JP" sz="1400">
                <a:solidFill>
                  <a:srgbClr val="3B291E"/>
                </a:solidFill>
                <a:latin typeface="Meiryo" panose="020B0604030504040204" pitchFamily="50" charset="-128"/>
              </a:rPr>
              <a:t>: </a:t>
            </a:r>
            <a:r>
              <a:rPr kumimoji="1" lang="ja-JP" altLang="en-US" sz="1400">
                <a:solidFill>
                  <a:srgbClr val="3B291E"/>
                </a:solidFill>
                <a:latin typeface="Meiryo" panose="020B0604030504040204" pitchFamily="50" charset="-128"/>
              </a:rPr>
              <a:t>自治会名、合言葉、班編成マスタ（見出し色</a:t>
            </a:r>
            <a:r>
              <a:rPr kumimoji="1" lang="en-US" altLang="ja-JP" sz="1400">
                <a:solidFill>
                  <a:srgbClr val="3B291E"/>
                </a:solidFill>
                <a:latin typeface="Meiryo" panose="020B0604030504040204" pitchFamily="50" charset="-128"/>
              </a:rPr>
              <a:t>: </a:t>
            </a:r>
            <a:r>
              <a:rPr kumimoji="1" lang="ja-JP" altLang="en-US" sz="1400">
                <a:solidFill>
                  <a:srgbClr val="3B291E"/>
                </a:solidFill>
                <a:latin typeface="Meiryo" panose="020B0604030504040204" pitchFamily="50" charset="-128"/>
              </a:rPr>
              <a:t>グレー）</a:t>
            </a:r>
          </a:p>
        </p:txBody>
      </p:sp>
    </p:spTree>
    <p:extLst>
      <p:ext uri="{BB962C8B-B14F-4D97-AF65-F5344CB8AC3E}">
        <p14:creationId xmlns:p14="http://schemas.microsoft.com/office/powerpoint/2010/main" val="32305675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AB05B2A8-DBE8-5A93-717C-D0AA921FDC2E}"/>
              </a:ext>
            </a:extLst>
          </p:cNvPr>
          <p:cNvSpPr/>
          <p:nvPr/>
        </p:nvSpPr>
        <p:spPr>
          <a:xfrm>
            <a:off x="0" y="0"/>
            <a:ext cx="12192000" cy="1016000"/>
          </a:xfrm>
          <a:prstGeom prst="rect">
            <a:avLst/>
          </a:prstGeom>
          <a:solidFill>
            <a:srgbClr val="1E3A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F4FC6145-DBBE-8EC1-D2D3-B6390F720C7F}"/>
              </a:ext>
            </a:extLst>
          </p:cNvPr>
          <p:cNvSpPr txBox="1"/>
          <p:nvPr/>
        </p:nvSpPr>
        <p:spPr>
          <a:xfrm>
            <a:off x="508000" y="127000"/>
            <a:ext cx="3810000" cy="276999"/>
          </a:xfrm>
          <a:prstGeom prst="rect">
            <a:avLst/>
          </a:prstGeom>
          <a:noFill/>
        </p:spPr>
        <p:txBody>
          <a:bodyPr vert="horz" rtlCol="0">
            <a:spAutoFit/>
          </a:bodyPr>
          <a:lstStyle/>
          <a:p>
            <a:r>
              <a:rPr kumimoji="1" lang="en-US" altLang="ja-JP" sz="1200" b="1">
                <a:solidFill>
                  <a:srgbClr val="10B981"/>
                </a:solidFill>
                <a:latin typeface="Meiryo" panose="020B0604030504040204" pitchFamily="50" charset="-128"/>
              </a:rPr>
              <a:t>STEP 3</a:t>
            </a:r>
            <a:endParaRPr kumimoji="1" lang="ja-JP" altLang="en-US" sz="1200" b="1">
              <a:solidFill>
                <a:srgbClr val="10B981"/>
              </a:solidFill>
              <a:latin typeface="Meiryo" panose="020B0604030504040204" pitchFamily="50" charset="-128"/>
            </a:endParaRPr>
          </a:p>
        </p:txBody>
      </p:sp>
      <p:sp>
        <p:nvSpPr>
          <p:cNvPr id="4" name="テキスト ボックス 3">
            <a:extLst>
              <a:ext uri="{FF2B5EF4-FFF2-40B4-BE49-F238E27FC236}">
                <a16:creationId xmlns:a16="http://schemas.microsoft.com/office/drawing/2014/main" id="{70CB9275-5AF4-C43C-2AC8-A15538352A66}"/>
              </a:ext>
            </a:extLst>
          </p:cNvPr>
          <p:cNvSpPr txBox="1"/>
          <p:nvPr/>
        </p:nvSpPr>
        <p:spPr>
          <a:xfrm>
            <a:off x="508000" y="381000"/>
            <a:ext cx="11176000" cy="430887"/>
          </a:xfrm>
          <a:prstGeom prst="rect">
            <a:avLst/>
          </a:prstGeom>
          <a:noFill/>
        </p:spPr>
        <p:txBody>
          <a:bodyPr vert="horz" rtlCol="0">
            <a:spAutoFit/>
          </a:bodyPr>
          <a:lstStyle/>
          <a:p>
            <a:r>
              <a:rPr kumimoji="1" lang="ja-JP" altLang="en-US" sz="2200" b="1">
                <a:solidFill>
                  <a:srgbClr val="FFFFFF"/>
                </a:solidFill>
                <a:latin typeface="Meiryo" panose="020B0604030504040204" pitchFamily="50" charset="-128"/>
              </a:rPr>
              <a:t>ウェブアプリとしてデプロイ（連携</a:t>
            </a:r>
            <a:r>
              <a:rPr kumimoji="1" lang="en-US" altLang="ja-JP" sz="2200" b="1">
                <a:solidFill>
                  <a:srgbClr val="FFFFFF"/>
                </a:solidFill>
                <a:latin typeface="Meiryo" panose="020B0604030504040204" pitchFamily="50" charset="-128"/>
              </a:rPr>
              <a:t>URL</a:t>
            </a:r>
            <a:r>
              <a:rPr kumimoji="1" lang="ja-JP" altLang="en-US" sz="2200" b="1">
                <a:solidFill>
                  <a:srgbClr val="FFFFFF"/>
                </a:solidFill>
                <a:latin typeface="Meiryo" panose="020B0604030504040204" pitchFamily="50" charset="-128"/>
              </a:rPr>
              <a:t>の発行）</a:t>
            </a:r>
          </a:p>
        </p:txBody>
      </p:sp>
      <p:sp>
        <p:nvSpPr>
          <p:cNvPr id="5" name="正方形/長方形 4">
            <a:extLst>
              <a:ext uri="{FF2B5EF4-FFF2-40B4-BE49-F238E27FC236}">
                <a16:creationId xmlns:a16="http://schemas.microsoft.com/office/drawing/2014/main" id="{8FAAFEFD-E0CA-C2CA-316B-B8DEABB8DC3B}"/>
              </a:ext>
            </a:extLst>
          </p:cNvPr>
          <p:cNvSpPr/>
          <p:nvPr/>
        </p:nvSpPr>
        <p:spPr>
          <a:xfrm>
            <a:off x="635000" y="1524000"/>
            <a:ext cx="10922000" cy="4572000"/>
          </a:xfrm>
          <a:prstGeom prst="rect">
            <a:avLst/>
          </a:prstGeom>
          <a:solidFill>
            <a:srgbClr val="FFFFFF"/>
          </a:solidFill>
          <a:ln>
            <a:solidFill>
              <a:srgbClr val="E1D5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rgbClr val="3B291E"/>
                </a:solidFill>
                <a:latin typeface="Meiryo" panose="020B0604030504040204" pitchFamily="50" charset="-128"/>
              </a:rPr>
              <a:t>1. Apps Script</a:t>
            </a:r>
            <a:r>
              <a:rPr kumimoji="1" lang="ja-JP" altLang="en-US" sz="1400">
                <a:solidFill>
                  <a:srgbClr val="3B291E"/>
                </a:solidFill>
                <a:latin typeface="Meiryo" panose="020B0604030504040204" pitchFamily="50" charset="-128"/>
              </a:rPr>
              <a:t>エディタ右上の「デプロイ」＞「新しいデプロイ」をクリック
</a:t>
            </a:r>
            <a:r>
              <a:rPr kumimoji="1" lang="en-US" altLang="ja-JP" sz="1400">
                <a:solidFill>
                  <a:srgbClr val="3B291E"/>
                </a:solidFill>
                <a:latin typeface="Meiryo" panose="020B0604030504040204" pitchFamily="50" charset="-128"/>
              </a:rPr>
              <a:t>2. </a:t>
            </a:r>
            <a:r>
              <a:rPr kumimoji="1" lang="ja-JP" altLang="en-US" sz="1400">
                <a:solidFill>
                  <a:srgbClr val="3B291E"/>
                </a:solidFill>
                <a:latin typeface="Meiryo" panose="020B0604030504040204" pitchFamily="50" charset="-128"/>
              </a:rPr>
              <a:t>歯車アイコンをクリックし「ウェブアプリ」を選択
</a:t>
            </a:r>
            <a:r>
              <a:rPr kumimoji="1" lang="en-US" altLang="ja-JP" sz="1400">
                <a:solidFill>
                  <a:srgbClr val="3B291E"/>
                </a:solidFill>
                <a:latin typeface="Meiryo" panose="020B0604030504040204" pitchFamily="50" charset="-128"/>
              </a:rPr>
              <a:t>3. </a:t>
            </a:r>
            <a:r>
              <a:rPr kumimoji="1" lang="ja-JP" altLang="en-US" sz="1400">
                <a:solidFill>
                  <a:srgbClr val="3B291E"/>
                </a:solidFill>
                <a:latin typeface="Meiryo" panose="020B0604030504040204" pitchFamily="50" charset="-128"/>
              </a:rPr>
              <a:t>設定項目を入力（</a:t>
            </a:r>
            <a:r>
              <a:rPr kumimoji="1" lang="en-US" altLang="ja-JP" sz="1400">
                <a:solidFill>
                  <a:srgbClr val="3B291E"/>
                </a:solidFill>
                <a:latin typeface="Meiryo" panose="020B0604030504040204" pitchFamily="50" charset="-128"/>
              </a:rPr>
              <a:t>※</a:t>
            </a:r>
            <a:r>
              <a:rPr kumimoji="1" lang="ja-JP" altLang="en-US" sz="1400">
                <a:solidFill>
                  <a:srgbClr val="3B291E"/>
                </a:solidFill>
                <a:latin typeface="Meiryo" panose="020B0604030504040204" pitchFamily="50" charset="-128"/>
              </a:rPr>
              <a:t>重要）</a:t>
            </a:r>
            <a:r>
              <a:rPr kumimoji="1" lang="en-US" altLang="ja-JP" sz="1400">
                <a:solidFill>
                  <a:srgbClr val="3B291E"/>
                </a:solidFill>
                <a:latin typeface="Meiryo" panose="020B0604030504040204" pitchFamily="50" charset="-128"/>
              </a:rPr>
              <a:t>:
   </a:t>
            </a:r>
            <a:r>
              <a:rPr kumimoji="1" lang="ja-JP" altLang="en-US" sz="1400">
                <a:solidFill>
                  <a:srgbClr val="3B291E"/>
                </a:solidFill>
                <a:latin typeface="Meiryo" panose="020B0604030504040204" pitchFamily="50" charset="-128"/>
              </a:rPr>
              <a:t>・説明</a:t>
            </a:r>
            <a:r>
              <a:rPr kumimoji="1" lang="en-US" altLang="ja-JP" sz="1400">
                <a:solidFill>
                  <a:srgbClr val="3B291E"/>
                </a:solidFill>
                <a:latin typeface="Meiryo" panose="020B0604030504040204" pitchFamily="50" charset="-128"/>
              </a:rPr>
              <a:t>: </a:t>
            </a:r>
            <a:r>
              <a:rPr kumimoji="1" lang="ja-JP" altLang="en-US" sz="1400">
                <a:solidFill>
                  <a:srgbClr val="3B291E"/>
                </a:solidFill>
                <a:latin typeface="Meiryo" panose="020B0604030504040204" pitchFamily="50" charset="-128"/>
              </a:rPr>
              <a:t>自治会名簿</a:t>
            </a:r>
            <a:r>
              <a:rPr kumimoji="1" lang="en-US" altLang="ja-JP" sz="1400">
                <a:solidFill>
                  <a:srgbClr val="3B291E"/>
                </a:solidFill>
                <a:latin typeface="Meiryo" panose="020B0604030504040204" pitchFamily="50" charset="-128"/>
              </a:rPr>
              <a:t>API v1
   </a:t>
            </a:r>
            <a:r>
              <a:rPr kumimoji="1" lang="ja-JP" altLang="en-US" sz="1400">
                <a:solidFill>
                  <a:srgbClr val="3B291E"/>
                </a:solidFill>
                <a:latin typeface="Meiryo" panose="020B0604030504040204" pitchFamily="50" charset="-128"/>
              </a:rPr>
              <a:t>・次のユーザーとして実行</a:t>
            </a:r>
            <a:r>
              <a:rPr kumimoji="1" lang="en-US" altLang="ja-JP" sz="1400">
                <a:solidFill>
                  <a:srgbClr val="3B291E"/>
                </a:solidFill>
                <a:latin typeface="Meiryo" panose="020B0604030504040204" pitchFamily="50" charset="-128"/>
              </a:rPr>
              <a:t>: </a:t>
            </a:r>
            <a:r>
              <a:rPr kumimoji="1" lang="ja-JP" altLang="en-US" sz="1400">
                <a:solidFill>
                  <a:srgbClr val="3B291E"/>
                </a:solidFill>
                <a:latin typeface="Meiryo" panose="020B0604030504040204" pitchFamily="50" charset="-128"/>
              </a:rPr>
              <a:t>自分
   ・アクセスできるユーザー</a:t>
            </a:r>
            <a:r>
              <a:rPr kumimoji="1" lang="en-US" altLang="ja-JP" sz="1400">
                <a:solidFill>
                  <a:srgbClr val="3B291E"/>
                </a:solidFill>
                <a:latin typeface="Meiryo" panose="020B0604030504040204" pitchFamily="50" charset="-128"/>
              </a:rPr>
              <a:t>: </a:t>
            </a:r>
            <a:r>
              <a:rPr kumimoji="1" lang="ja-JP" altLang="en-US" sz="1400">
                <a:solidFill>
                  <a:srgbClr val="3B291E"/>
                </a:solidFill>
                <a:latin typeface="Meiryo" panose="020B0604030504040204" pitchFamily="50" charset="-128"/>
              </a:rPr>
              <a:t>全員（</a:t>
            </a:r>
            <a:r>
              <a:rPr kumimoji="1" lang="en-US" altLang="ja-JP" sz="1400">
                <a:solidFill>
                  <a:srgbClr val="3B291E"/>
                </a:solidFill>
                <a:latin typeface="Meiryo" panose="020B0604030504040204" pitchFamily="50" charset="-128"/>
              </a:rPr>
              <a:t>Anyone</a:t>
            </a:r>
            <a:r>
              <a:rPr kumimoji="1" lang="ja-JP" altLang="en-US" sz="1400">
                <a:solidFill>
                  <a:srgbClr val="3B291E"/>
                </a:solidFill>
                <a:latin typeface="Meiryo" panose="020B0604030504040204" pitchFamily="50" charset="-128"/>
              </a:rPr>
              <a:t>）
   </a:t>
            </a:r>
            <a:r>
              <a:rPr kumimoji="1" lang="en-US" altLang="ja-JP" sz="1400">
                <a:solidFill>
                  <a:srgbClr val="3B291E"/>
                </a:solidFill>
                <a:latin typeface="Meiryo" panose="020B0604030504040204" pitchFamily="50" charset="-128"/>
              </a:rPr>
              <a:t>※</a:t>
            </a:r>
            <a:r>
              <a:rPr kumimoji="1" lang="ja-JP" altLang="en-US" sz="1400">
                <a:solidFill>
                  <a:srgbClr val="3B291E"/>
                </a:solidFill>
                <a:latin typeface="Meiryo" panose="020B0604030504040204" pitchFamily="50" charset="-128"/>
              </a:rPr>
              <a:t>「全員」にする理由</a:t>
            </a:r>
            <a:r>
              <a:rPr kumimoji="1" lang="en-US" altLang="ja-JP" sz="1400">
                <a:solidFill>
                  <a:srgbClr val="3B291E"/>
                </a:solidFill>
                <a:latin typeface="Meiryo" panose="020B0604030504040204" pitchFamily="50" charset="-128"/>
              </a:rPr>
              <a:t>:
     </a:t>
            </a:r>
            <a:r>
              <a:rPr kumimoji="1" lang="ja-JP" altLang="en-US" sz="1400">
                <a:solidFill>
                  <a:srgbClr val="3B291E"/>
                </a:solidFill>
                <a:latin typeface="Meiryo" panose="020B0604030504040204" pitchFamily="50" charset="-128"/>
              </a:rPr>
              <a:t>スマホや役員の端末からログインなしで安全に通信するためです。
     名簿データはシステム独自の暗号化「合言葉（パスコード）」によって保護されるため、
     合言葉を知らない第三者から個人情報が見られることはありません。
</a:t>
            </a:r>
            <a:r>
              <a:rPr kumimoji="1" lang="en-US" altLang="ja-JP" sz="1400">
                <a:solidFill>
                  <a:srgbClr val="3B291E"/>
                </a:solidFill>
                <a:latin typeface="Meiryo" panose="020B0604030504040204" pitchFamily="50" charset="-128"/>
              </a:rPr>
              <a:t>4. </a:t>
            </a:r>
            <a:r>
              <a:rPr kumimoji="1" lang="ja-JP" altLang="en-US" sz="1400">
                <a:solidFill>
                  <a:srgbClr val="3B291E"/>
                </a:solidFill>
                <a:latin typeface="Meiryo" panose="020B0604030504040204" pitchFamily="50" charset="-128"/>
              </a:rPr>
              <a:t>「デプロイ」をクリックし、発行された「ウェブアプリの</a:t>
            </a:r>
            <a:r>
              <a:rPr kumimoji="1" lang="en-US" altLang="ja-JP" sz="1400">
                <a:solidFill>
                  <a:srgbClr val="3B291E"/>
                </a:solidFill>
                <a:latin typeface="Meiryo" panose="020B0604030504040204" pitchFamily="50" charset="-128"/>
              </a:rPr>
              <a:t>URL</a:t>
            </a:r>
            <a:r>
              <a:rPr kumimoji="1" lang="ja-JP" altLang="en-US" sz="1400">
                <a:solidFill>
                  <a:srgbClr val="3B291E"/>
                </a:solidFill>
                <a:latin typeface="Meiryo" panose="020B0604030504040204" pitchFamily="50" charset="-128"/>
              </a:rPr>
              <a:t>」をコピー！</a:t>
            </a:r>
          </a:p>
        </p:txBody>
      </p:sp>
    </p:spTree>
    <p:extLst>
      <p:ext uri="{BB962C8B-B14F-4D97-AF65-F5344CB8AC3E}">
        <p14:creationId xmlns:p14="http://schemas.microsoft.com/office/powerpoint/2010/main" val="8429020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0C42DCA-6398-ABBE-DDB8-A2C2F9B47D75}"/>
              </a:ext>
            </a:extLst>
          </p:cNvPr>
          <p:cNvSpPr/>
          <p:nvPr/>
        </p:nvSpPr>
        <p:spPr>
          <a:xfrm>
            <a:off x="0" y="0"/>
            <a:ext cx="12192000" cy="1016000"/>
          </a:xfrm>
          <a:prstGeom prst="rect">
            <a:avLst/>
          </a:prstGeom>
          <a:solidFill>
            <a:srgbClr val="1E3A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AD780630-60C4-2B0B-7C80-02D0EA1E03C8}"/>
              </a:ext>
            </a:extLst>
          </p:cNvPr>
          <p:cNvSpPr txBox="1"/>
          <p:nvPr/>
        </p:nvSpPr>
        <p:spPr>
          <a:xfrm>
            <a:off x="508000" y="127000"/>
            <a:ext cx="3810000" cy="276999"/>
          </a:xfrm>
          <a:prstGeom prst="rect">
            <a:avLst/>
          </a:prstGeom>
          <a:noFill/>
        </p:spPr>
        <p:txBody>
          <a:bodyPr vert="horz" rtlCol="0">
            <a:spAutoFit/>
          </a:bodyPr>
          <a:lstStyle/>
          <a:p>
            <a:r>
              <a:rPr kumimoji="1" lang="en-US" altLang="ja-JP" sz="1200" b="1">
                <a:solidFill>
                  <a:srgbClr val="10B981"/>
                </a:solidFill>
                <a:latin typeface="Meiryo" panose="020B0604030504040204" pitchFamily="50" charset="-128"/>
              </a:rPr>
              <a:t>STEP 4</a:t>
            </a:r>
            <a:endParaRPr kumimoji="1" lang="ja-JP" altLang="en-US" sz="1200" b="1">
              <a:solidFill>
                <a:srgbClr val="10B981"/>
              </a:solidFill>
              <a:latin typeface="Meiryo" panose="020B0604030504040204" pitchFamily="50" charset="-128"/>
            </a:endParaRPr>
          </a:p>
        </p:txBody>
      </p:sp>
      <p:sp>
        <p:nvSpPr>
          <p:cNvPr id="4" name="テキスト ボックス 3">
            <a:extLst>
              <a:ext uri="{FF2B5EF4-FFF2-40B4-BE49-F238E27FC236}">
                <a16:creationId xmlns:a16="http://schemas.microsoft.com/office/drawing/2014/main" id="{FFDF34FD-AEE9-C36B-9759-E3AFDE014F29}"/>
              </a:ext>
            </a:extLst>
          </p:cNvPr>
          <p:cNvSpPr txBox="1"/>
          <p:nvPr/>
        </p:nvSpPr>
        <p:spPr>
          <a:xfrm>
            <a:off x="508000" y="381000"/>
            <a:ext cx="11176000" cy="430887"/>
          </a:xfrm>
          <a:prstGeom prst="rect">
            <a:avLst/>
          </a:prstGeom>
          <a:noFill/>
        </p:spPr>
        <p:txBody>
          <a:bodyPr vert="horz" rtlCol="0">
            <a:spAutoFit/>
          </a:bodyPr>
          <a:lstStyle/>
          <a:p>
            <a:r>
              <a:rPr kumimoji="1" lang="ja-JP" altLang="en-US" sz="2200" b="1">
                <a:solidFill>
                  <a:srgbClr val="FFFFFF"/>
                </a:solidFill>
                <a:latin typeface="Meiryo" panose="020B0604030504040204" pitchFamily="50" charset="-128"/>
              </a:rPr>
              <a:t>自治会ごとの個別カスタマイズ（システム設定）</a:t>
            </a:r>
          </a:p>
        </p:txBody>
      </p:sp>
      <p:sp>
        <p:nvSpPr>
          <p:cNvPr id="5" name="正方形/長方形 4">
            <a:extLst>
              <a:ext uri="{FF2B5EF4-FFF2-40B4-BE49-F238E27FC236}">
                <a16:creationId xmlns:a16="http://schemas.microsoft.com/office/drawing/2014/main" id="{E6B87ECA-5FF9-7B14-A6CE-AF13204A158A}"/>
              </a:ext>
            </a:extLst>
          </p:cNvPr>
          <p:cNvSpPr/>
          <p:nvPr/>
        </p:nvSpPr>
        <p:spPr>
          <a:xfrm>
            <a:off x="635000" y="1524000"/>
            <a:ext cx="10922000" cy="4572000"/>
          </a:xfrm>
          <a:prstGeom prst="rect">
            <a:avLst/>
          </a:prstGeom>
          <a:solidFill>
            <a:srgbClr val="FFFFFF"/>
          </a:solidFill>
          <a:ln>
            <a:solidFill>
              <a:srgbClr val="E1D5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350">
                <a:solidFill>
                  <a:srgbClr val="3B291E"/>
                </a:solidFill>
                <a:latin typeface="Meiryo" panose="020B0604030504040204" pitchFamily="50" charset="-128"/>
              </a:rPr>
              <a:t>「システム設定」シートで貴自治体の運用に合わせて値を設定します</a:t>
            </a:r>
            <a:r>
              <a:rPr kumimoji="1" lang="en-US" altLang="ja-JP" sz="1350">
                <a:solidFill>
                  <a:srgbClr val="3B291E"/>
                </a:solidFill>
                <a:latin typeface="Meiryo" panose="020B0604030504040204" pitchFamily="50" charset="-128"/>
              </a:rPr>
              <a:t>:
</a:t>
            </a:r>
            <a:r>
              <a:rPr kumimoji="1" lang="ja-JP" altLang="en-US" sz="1350">
                <a:solidFill>
                  <a:srgbClr val="3B291E"/>
                </a:solidFill>
                <a:latin typeface="Meiryo" panose="020B0604030504040204" pitchFamily="50" charset="-128"/>
              </a:rPr>
              <a:t>・</a:t>
            </a:r>
            <a:r>
              <a:rPr kumimoji="1" lang="en-US" altLang="ja-JP" sz="1350">
                <a:solidFill>
                  <a:srgbClr val="3B291E"/>
                </a:solidFill>
                <a:latin typeface="Meiryo" panose="020B0604030504040204" pitchFamily="50" charset="-128"/>
              </a:rPr>
              <a:t>communityName: </a:t>
            </a:r>
            <a:r>
              <a:rPr kumimoji="1" lang="ja-JP" altLang="en-US" sz="1350">
                <a:solidFill>
                  <a:srgbClr val="3B291E"/>
                </a:solidFill>
                <a:latin typeface="Meiryo" panose="020B0604030504040204" pitchFamily="50" charset="-128"/>
              </a:rPr>
              <a:t>自治会・町内会名（例</a:t>
            </a:r>
            <a:r>
              <a:rPr kumimoji="1" lang="en-US" altLang="ja-JP" sz="1350">
                <a:solidFill>
                  <a:srgbClr val="3B291E"/>
                </a:solidFill>
                <a:latin typeface="Meiryo" panose="020B0604030504040204" pitchFamily="50" charset="-128"/>
              </a:rPr>
              <a:t>: </a:t>
            </a:r>
            <a:r>
              <a:rPr kumimoji="1" lang="ja-JP" altLang="en-US" sz="1350">
                <a:solidFill>
                  <a:srgbClr val="3B291E"/>
                </a:solidFill>
                <a:latin typeface="Meiryo" panose="020B0604030504040204" pitchFamily="50" charset="-128"/>
              </a:rPr>
              <a:t>桜ヶ丘自治会）
・</a:t>
            </a:r>
            <a:r>
              <a:rPr kumimoji="1" lang="en-US" altLang="ja-JP" sz="1350">
                <a:solidFill>
                  <a:srgbClr val="3B291E"/>
                </a:solidFill>
                <a:latin typeface="Meiryo" panose="020B0604030504040204" pitchFamily="50" charset="-128"/>
              </a:rPr>
              <a:t>passcode: </a:t>
            </a:r>
            <a:r>
              <a:rPr kumimoji="1" lang="ja-JP" altLang="en-US" sz="1350">
                <a:solidFill>
                  <a:srgbClr val="3B291E"/>
                </a:solidFill>
                <a:latin typeface="Meiryo" panose="020B0604030504040204" pitchFamily="50" charset="-128"/>
              </a:rPr>
              <a:t>役員用合言葉（例</a:t>
            </a:r>
            <a:r>
              <a:rPr kumimoji="1" lang="en-US" altLang="ja-JP" sz="1350">
                <a:solidFill>
                  <a:srgbClr val="3B291E"/>
                </a:solidFill>
                <a:latin typeface="Meiryo" panose="020B0604030504040204" pitchFamily="50" charset="-128"/>
              </a:rPr>
              <a:t>: sakura2026</a:t>
            </a:r>
            <a:r>
              <a:rPr kumimoji="1" lang="ja-JP" altLang="en-US" sz="1350">
                <a:solidFill>
                  <a:srgbClr val="3B291E"/>
                </a:solidFill>
                <a:latin typeface="Meiryo" panose="020B0604030504040204" pitchFamily="50" charset="-128"/>
              </a:rPr>
              <a:t>）
    ➜ 一般役員や班長が、名簿閲覧・集金チェック・帳票印刷を行うための合言葉。
・</a:t>
            </a:r>
            <a:r>
              <a:rPr kumimoji="1" lang="en-US" altLang="ja-JP" sz="1350">
                <a:solidFill>
                  <a:srgbClr val="3B291E"/>
                </a:solidFill>
                <a:latin typeface="Meiryo" panose="020B0604030504040204" pitchFamily="50" charset="-128"/>
              </a:rPr>
              <a:t>adminPasscode: </a:t>
            </a:r>
            <a:r>
              <a:rPr kumimoji="1" lang="ja-JP" altLang="en-US" sz="1350">
                <a:solidFill>
                  <a:srgbClr val="3B291E"/>
                </a:solidFill>
                <a:latin typeface="Meiryo" panose="020B0604030504040204" pitchFamily="50" charset="-128"/>
              </a:rPr>
              <a:t>管理者用合言葉（例</a:t>
            </a:r>
            <a:r>
              <a:rPr kumimoji="1" lang="en-US" altLang="ja-JP" sz="1350">
                <a:solidFill>
                  <a:srgbClr val="3B291E"/>
                </a:solidFill>
                <a:latin typeface="Meiryo" panose="020B0604030504040204" pitchFamily="50" charset="-128"/>
              </a:rPr>
              <a:t>: admin8888</a:t>
            </a:r>
            <a:r>
              <a:rPr kumimoji="1" lang="ja-JP" altLang="en-US" sz="1350">
                <a:solidFill>
                  <a:srgbClr val="3B291E"/>
                </a:solidFill>
                <a:latin typeface="Meiryo" panose="020B0604030504040204" pitchFamily="50" charset="-128"/>
              </a:rPr>
              <a:t>）
    ➜ 会長や総務が、名簿の新規追加・編集・削除・設定変更を行うための合言葉。
・</a:t>
            </a:r>
            <a:r>
              <a:rPr kumimoji="1" lang="en-US" altLang="ja-JP" sz="1350">
                <a:solidFill>
                  <a:srgbClr val="3B291E"/>
                </a:solidFill>
                <a:latin typeface="Meiryo" panose="020B0604030504040204" pitchFamily="50" charset="-128"/>
              </a:rPr>
              <a:t>blocks / roles: </a:t>
            </a:r>
            <a:r>
              <a:rPr kumimoji="1" lang="ja-JP" altLang="en-US" sz="1350">
                <a:solidFill>
                  <a:srgbClr val="3B291E"/>
                </a:solidFill>
                <a:latin typeface="Meiryo" panose="020B0604030504040204" pitchFamily="50" charset="-128"/>
              </a:rPr>
              <a:t>ブロック・班編成や役職一覧
    ➜ </a:t>
            </a:r>
            <a:r>
              <a:rPr kumimoji="1" lang="en-US" altLang="ja-JP" sz="1350">
                <a:solidFill>
                  <a:srgbClr val="3B291E"/>
                </a:solidFill>
                <a:latin typeface="Meiryo" panose="020B0604030504040204" pitchFamily="50" charset="-128"/>
              </a:rPr>
              <a:t>Web</a:t>
            </a:r>
            <a:r>
              <a:rPr kumimoji="1" lang="ja-JP" altLang="en-US" sz="1350">
                <a:solidFill>
                  <a:srgbClr val="3B291E"/>
                </a:solidFill>
                <a:latin typeface="Meiryo" panose="020B0604030504040204" pitchFamily="50" charset="-128"/>
              </a:rPr>
              <a:t>アプリの「⚙️ 設定」タブから画面操作で簡単に追加・編集することも可能です。
💡 役員交代時の運用</a:t>
            </a:r>
            <a:r>
              <a:rPr kumimoji="1" lang="en-US" altLang="ja-JP" sz="1350">
                <a:solidFill>
                  <a:srgbClr val="3B291E"/>
                </a:solidFill>
                <a:latin typeface="Meiryo" panose="020B0604030504040204" pitchFamily="50" charset="-128"/>
              </a:rPr>
              <a:t>:
</a:t>
            </a:r>
            <a:r>
              <a:rPr kumimoji="1" lang="ja-JP" altLang="en-US" sz="1350">
                <a:solidFill>
                  <a:srgbClr val="3B291E"/>
                </a:solidFill>
                <a:latin typeface="Meiryo" panose="020B0604030504040204" pitchFamily="50" charset="-128"/>
              </a:rPr>
              <a:t>毎年</a:t>
            </a:r>
            <a:r>
              <a:rPr kumimoji="1" lang="en-US" altLang="ja-JP" sz="1350">
                <a:solidFill>
                  <a:srgbClr val="3B291E"/>
                </a:solidFill>
                <a:latin typeface="Meiryo" panose="020B0604030504040204" pitchFamily="50" charset="-128"/>
              </a:rPr>
              <a:t>4</a:t>
            </a:r>
            <a:r>
              <a:rPr kumimoji="1" lang="ja-JP" altLang="en-US" sz="1350">
                <a:solidFill>
                  <a:srgbClr val="3B291E"/>
                </a:solidFill>
                <a:latin typeface="Meiryo" panose="020B0604030504040204" pitchFamily="50" charset="-128"/>
              </a:rPr>
              <a:t>月の総会時には、合言葉を新年度のものに変えるだけで、旧役員のスマホからのアクセスを一括遮断できます。</a:t>
            </a:r>
          </a:p>
        </p:txBody>
      </p:sp>
    </p:spTree>
    <p:extLst>
      <p:ext uri="{BB962C8B-B14F-4D97-AF65-F5344CB8AC3E}">
        <p14:creationId xmlns:p14="http://schemas.microsoft.com/office/powerpoint/2010/main" val="4806654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2DC00173-FFCB-EF48-7016-A24B4FC8D2BF}"/>
              </a:ext>
            </a:extLst>
          </p:cNvPr>
          <p:cNvSpPr/>
          <p:nvPr/>
        </p:nvSpPr>
        <p:spPr>
          <a:xfrm>
            <a:off x="0" y="0"/>
            <a:ext cx="12192000" cy="1016000"/>
          </a:xfrm>
          <a:prstGeom prst="rect">
            <a:avLst/>
          </a:prstGeom>
          <a:solidFill>
            <a:srgbClr val="1E3A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F3616BE9-D428-8530-BB60-533D126256A3}"/>
              </a:ext>
            </a:extLst>
          </p:cNvPr>
          <p:cNvSpPr txBox="1"/>
          <p:nvPr/>
        </p:nvSpPr>
        <p:spPr>
          <a:xfrm>
            <a:off x="508000" y="127000"/>
            <a:ext cx="3810000" cy="276999"/>
          </a:xfrm>
          <a:prstGeom prst="rect">
            <a:avLst/>
          </a:prstGeom>
          <a:noFill/>
        </p:spPr>
        <p:txBody>
          <a:bodyPr vert="horz" rtlCol="0">
            <a:spAutoFit/>
          </a:bodyPr>
          <a:lstStyle/>
          <a:p>
            <a:r>
              <a:rPr kumimoji="1" lang="en-US" altLang="ja-JP" sz="1200" b="1">
                <a:solidFill>
                  <a:srgbClr val="10B981"/>
                </a:solidFill>
                <a:latin typeface="Meiryo" panose="020B0604030504040204" pitchFamily="50" charset="-128"/>
              </a:rPr>
              <a:t>STEP 5</a:t>
            </a:r>
            <a:endParaRPr kumimoji="1" lang="ja-JP" altLang="en-US" sz="1200" b="1">
              <a:solidFill>
                <a:srgbClr val="10B981"/>
              </a:solidFill>
              <a:latin typeface="Meiryo" panose="020B0604030504040204" pitchFamily="50" charset="-128"/>
            </a:endParaRPr>
          </a:p>
        </p:txBody>
      </p:sp>
      <p:sp>
        <p:nvSpPr>
          <p:cNvPr id="4" name="テキスト ボックス 3">
            <a:extLst>
              <a:ext uri="{FF2B5EF4-FFF2-40B4-BE49-F238E27FC236}">
                <a16:creationId xmlns:a16="http://schemas.microsoft.com/office/drawing/2014/main" id="{7822B0C8-2271-A63C-C06F-C06076787C6A}"/>
              </a:ext>
            </a:extLst>
          </p:cNvPr>
          <p:cNvSpPr txBox="1"/>
          <p:nvPr/>
        </p:nvSpPr>
        <p:spPr>
          <a:xfrm>
            <a:off x="508000" y="381000"/>
            <a:ext cx="11176000" cy="430887"/>
          </a:xfrm>
          <a:prstGeom prst="rect">
            <a:avLst/>
          </a:prstGeom>
          <a:noFill/>
        </p:spPr>
        <p:txBody>
          <a:bodyPr vert="horz" rtlCol="0">
            <a:spAutoFit/>
          </a:bodyPr>
          <a:lstStyle/>
          <a:p>
            <a:r>
              <a:rPr kumimoji="1" lang="en-US" altLang="ja-JP" sz="2200" b="1">
                <a:solidFill>
                  <a:srgbClr val="FFFFFF"/>
                </a:solidFill>
                <a:latin typeface="Meiryo" panose="020B0604030504040204" pitchFamily="50" charset="-128"/>
              </a:rPr>
              <a:t>Web</a:t>
            </a:r>
            <a:r>
              <a:rPr kumimoji="1" lang="ja-JP" altLang="en-US" sz="2200" b="1">
                <a:solidFill>
                  <a:srgbClr val="FFFFFF"/>
                </a:solidFill>
                <a:latin typeface="Meiryo" panose="020B0604030504040204" pitchFamily="50" charset="-128"/>
              </a:rPr>
              <a:t>アプリへの接続と動作確認</a:t>
            </a:r>
          </a:p>
        </p:txBody>
      </p:sp>
      <p:sp>
        <p:nvSpPr>
          <p:cNvPr id="5" name="正方形/長方形 4">
            <a:extLst>
              <a:ext uri="{FF2B5EF4-FFF2-40B4-BE49-F238E27FC236}">
                <a16:creationId xmlns:a16="http://schemas.microsoft.com/office/drawing/2014/main" id="{CDE3E89C-C8CE-E943-CC37-38A14BF10680}"/>
              </a:ext>
            </a:extLst>
          </p:cNvPr>
          <p:cNvSpPr/>
          <p:nvPr/>
        </p:nvSpPr>
        <p:spPr>
          <a:xfrm>
            <a:off x="635000" y="1524000"/>
            <a:ext cx="10922000" cy="4572000"/>
          </a:xfrm>
          <a:prstGeom prst="rect">
            <a:avLst/>
          </a:prstGeom>
          <a:solidFill>
            <a:srgbClr val="FFFFFF"/>
          </a:solidFill>
          <a:ln>
            <a:solidFill>
              <a:srgbClr val="E1D5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rgbClr val="3B291E"/>
                </a:solidFill>
                <a:latin typeface="Meiryo" panose="020B0604030504040204" pitchFamily="50" charset="-128"/>
              </a:rPr>
              <a:t>1. Web</a:t>
            </a:r>
            <a:r>
              <a:rPr kumimoji="1" lang="ja-JP" altLang="en-US" sz="1400">
                <a:solidFill>
                  <a:srgbClr val="3B291E"/>
                </a:solidFill>
                <a:latin typeface="Meiryo" panose="020B0604030504040204" pitchFamily="50" charset="-128"/>
              </a:rPr>
              <a:t>アプリの</a:t>
            </a:r>
            <a:r>
              <a:rPr kumimoji="1" lang="en-US" altLang="ja-JP" sz="1400">
                <a:solidFill>
                  <a:srgbClr val="3B291E"/>
                </a:solidFill>
                <a:latin typeface="Meiryo" panose="020B0604030504040204" pitchFamily="50" charset="-128"/>
              </a:rPr>
              <a:t>URL</a:t>
            </a:r>
            <a:r>
              <a:rPr kumimoji="1" lang="ja-JP" altLang="en-US" sz="1400">
                <a:solidFill>
                  <a:srgbClr val="3B291E"/>
                </a:solidFill>
                <a:latin typeface="Meiryo" panose="020B0604030504040204" pitchFamily="50" charset="-128"/>
              </a:rPr>
              <a:t>を開く
   </a:t>
            </a:r>
            <a:r>
              <a:rPr kumimoji="1" lang="en-US" altLang="ja-JP" sz="1400">
                <a:solidFill>
                  <a:srgbClr val="3B291E"/>
                </a:solidFill>
                <a:latin typeface="Meiryo" panose="020B0604030504040204" pitchFamily="50" charset="-128"/>
              </a:rPr>
              <a:t>https://jack91709991-stack.github.io/community-roster/
2. </a:t>
            </a:r>
            <a:r>
              <a:rPr kumimoji="1" lang="ja-JP" altLang="en-US" sz="1400">
                <a:solidFill>
                  <a:srgbClr val="3B291E"/>
                </a:solidFill>
                <a:latin typeface="Meiryo" panose="020B0604030504040204" pitchFamily="50" charset="-128"/>
              </a:rPr>
              <a:t>画面右上または下部ナビゲーションの「⚙️ 設定」タブを開く
</a:t>
            </a:r>
            <a:r>
              <a:rPr kumimoji="1" lang="en-US" altLang="ja-JP" sz="1400">
                <a:solidFill>
                  <a:srgbClr val="3B291E"/>
                </a:solidFill>
                <a:latin typeface="Meiryo" panose="020B0604030504040204" pitchFamily="50" charset="-128"/>
              </a:rPr>
              <a:t>3. </a:t>
            </a:r>
            <a:r>
              <a:rPr kumimoji="1" lang="ja-JP" altLang="en-US" sz="1400">
                <a:solidFill>
                  <a:srgbClr val="3B291E"/>
                </a:solidFill>
                <a:latin typeface="Meiryo" panose="020B0604030504040204" pitchFamily="50" charset="-128"/>
              </a:rPr>
              <a:t>画面右上の「🔒 未認証」ボタンをクリック
   ・</a:t>
            </a:r>
            <a:r>
              <a:rPr kumimoji="1" lang="en-US" altLang="ja-JP" sz="1400">
                <a:solidFill>
                  <a:srgbClr val="3B291E"/>
                </a:solidFill>
                <a:latin typeface="Meiryo" panose="020B0604030504040204" pitchFamily="50" charset="-128"/>
              </a:rPr>
              <a:t>STEP 4</a:t>
            </a:r>
            <a:r>
              <a:rPr kumimoji="1" lang="ja-JP" altLang="en-US" sz="1400">
                <a:solidFill>
                  <a:srgbClr val="3B291E"/>
                </a:solidFill>
                <a:latin typeface="Meiryo" panose="020B0604030504040204" pitchFamily="50" charset="-128"/>
              </a:rPr>
              <a:t>で設定した「管理者合言葉」を入力してログイン（👑 アイコン表示に切り替わります）。
</a:t>
            </a:r>
            <a:r>
              <a:rPr kumimoji="1" lang="en-US" altLang="ja-JP" sz="1400">
                <a:solidFill>
                  <a:srgbClr val="3B291E"/>
                </a:solidFill>
                <a:latin typeface="Meiryo" panose="020B0604030504040204" pitchFamily="50" charset="-128"/>
              </a:rPr>
              <a:t>4. </a:t>
            </a:r>
            <a:r>
              <a:rPr kumimoji="1" lang="ja-JP" altLang="en-US" sz="1400">
                <a:solidFill>
                  <a:srgbClr val="3B291E"/>
                </a:solidFill>
                <a:latin typeface="Meiryo" panose="020B0604030504040204" pitchFamily="50" charset="-128"/>
              </a:rPr>
              <a:t>「</a:t>
            </a:r>
            <a:r>
              <a:rPr kumimoji="1" lang="en-US" altLang="ja-JP" sz="1400">
                <a:solidFill>
                  <a:srgbClr val="3B291E"/>
                </a:solidFill>
                <a:latin typeface="Meiryo" panose="020B0604030504040204" pitchFamily="50" charset="-128"/>
              </a:rPr>
              <a:t>Google Apps Script Web App URL</a:t>
            </a:r>
            <a:r>
              <a:rPr kumimoji="1" lang="ja-JP" altLang="en-US" sz="1400">
                <a:solidFill>
                  <a:srgbClr val="3B291E"/>
                </a:solidFill>
                <a:latin typeface="Meiryo" panose="020B0604030504040204" pitchFamily="50" charset="-128"/>
              </a:rPr>
              <a:t>」に</a:t>
            </a:r>
            <a:r>
              <a:rPr kumimoji="1" lang="en-US" altLang="ja-JP" sz="1400">
                <a:solidFill>
                  <a:srgbClr val="3B291E"/>
                </a:solidFill>
                <a:latin typeface="Meiryo" panose="020B0604030504040204" pitchFamily="50" charset="-128"/>
              </a:rPr>
              <a:t>STEP 3</a:t>
            </a:r>
            <a:r>
              <a:rPr kumimoji="1" lang="ja-JP" altLang="en-US" sz="1400">
                <a:solidFill>
                  <a:srgbClr val="3B291E"/>
                </a:solidFill>
                <a:latin typeface="Meiryo" panose="020B0604030504040204" pitchFamily="50" charset="-128"/>
              </a:rPr>
              <a:t>でコピーした</a:t>
            </a:r>
            <a:r>
              <a:rPr kumimoji="1" lang="en-US" altLang="ja-JP" sz="1400">
                <a:solidFill>
                  <a:srgbClr val="3B291E"/>
                </a:solidFill>
                <a:latin typeface="Meiryo" panose="020B0604030504040204" pitchFamily="50" charset="-128"/>
              </a:rPr>
              <a:t>URL</a:t>
            </a:r>
            <a:r>
              <a:rPr kumimoji="1" lang="ja-JP" altLang="en-US" sz="1400">
                <a:solidFill>
                  <a:srgbClr val="3B291E"/>
                </a:solidFill>
                <a:latin typeface="Meiryo" panose="020B0604030504040204" pitchFamily="50" charset="-128"/>
              </a:rPr>
              <a:t>を貼り付け
</a:t>
            </a:r>
            <a:r>
              <a:rPr kumimoji="1" lang="en-US" altLang="ja-JP" sz="1400">
                <a:solidFill>
                  <a:srgbClr val="3B291E"/>
                </a:solidFill>
                <a:latin typeface="Meiryo" panose="020B0604030504040204" pitchFamily="50" charset="-128"/>
              </a:rPr>
              <a:t>5. </a:t>
            </a:r>
            <a:r>
              <a:rPr kumimoji="1" lang="ja-JP" altLang="en-US" sz="1400">
                <a:solidFill>
                  <a:srgbClr val="3B291E"/>
                </a:solidFill>
                <a:latin typeface="Meiryo" panose="020B0604030504040204" pitchFamily="50" charset="-128"/>
              </a:rPr>
              <a:t>「保存して接続テスト」をクリック！
   ・画面右上の接続インジケーターが「🟢 接続中」になれば同期完了です！</a:t>
            </a:r>
          </a:p>
        </p:txBody>
      </p:sp>
    </p:spTree>
    <p:extLst>
      <p:ext uri="{BB962C8B-B14F-4D97-AF65-F5344CB8AC3E}">
        <p14:creationId xmlns:p14="http://schemas.microsoft.com/office/powerpoint/2010/main" val="14784940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7310188-ABF5-536C-202D-C35F1F16019C}"/>
              </a:ext>
            </a:extLst>
          </p:cNvPr>
          <p:cNvSpPr/>
          <p:nvPr/>
        </p:nvSpPr>
        <p:spPr>
          <a:xfrm>
            <a:off x="0" y="0"/>
            <a:ext cx="12192000" cy="1016000"/>
          </a:xfrm>
          <a:prstGeom prst="rect">
            <a:avLst/>
          </a:prstGeom>
          <a:solidFill>
            <a:srgbClr val="1E3A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55608018-567E-FB76-CA68-C1CDF2BEB8DF}"/>
              </a:ext>
            </a:extLst>
          </p:cNvPr>
          <p:cNvSpPr txBox="1"/>
          <p:nvPr/>
        </p:nvSpPr>
        <p:spPr>
          <a:xfrm>
            <a:off x="508000" y="127000"/>
            <a:ext cx="3810000" cy="276999"/>
          </a:xfrm>
          <a:prstGeom prst="rect">
            <a:avLst/>
          </a:prstGeom>
          <a:noFill/>
        </p:spPr>
        <p:txBody>
          <a:bodyPr vert="horz" rtlCol="0">
            <a:spAutoFit/>
          </a:bodyPr>
          <a:lstStyle/>
          <a:p>
            <a:r>
              <a:rPr kumimoji="1" lang="en-US" altLang="ja-JP" sz="1200" b="1">
                <a:solidFill>
                  <a:srgbClr val="10B981"/>
                </a:solidFill>
                <a:latin typeface="Meiryo" panose="020B0604030504040204" pitchFamily="50" charset="-128"/>
              </a:rPr>
              <a:t>STEP 6</a:t>
            </a:r>
            <a:endParaRPr kumimoji="1" lang="ja-JP" altLang="en-US" sz="1200" b="1">
              <a:solidFill>
                <a:srgbClr val="10B981"/>
              </a:solidFill>
              <a:latin typeface="Meiryo" panose="020B0604030504040204" pitchFamily="50" charset="-128"/>
            </a:endParaRPr>
          </a:p>
        </p:txBody>
      </p:sp>
      <p:sp>
        <p:nvSpPr>
          <p:cNvPr id="4" name="テキスト ボックス 3">
            <a:extLst>
              <a:ext uri="{FF2B5EF4-FFF2-40B4-BE49-F238E27FC236}">
                <a16:creationId xmlns:a16="http://schemas.microsoft.com/office/drawing/2014/main" id="{0F48AB64-0961-260B-CF71-1C78E7AA5FD3}"/>
              </a:ext>
            </a:extLst>
          </p:cNvPr>
          <p:cNvSpPr txBox="1"/>
          <p:nvPr/>
        </p:nvSpPr>
        <p:spPr>
          <a:xfrm>
            <a:off x="508000" y="381000"/>
            <a:ext cx="11176000" cy="430887"/>
          </a:xfrm>
          <a:prstGeom prst="rect">
            <a:avLst/>
          </a:prstGeom>
          <a:noFill/>
        </p:spPr>
        <p:txBody>
          <a:bodyPr vert="horz" rtlCol="0">
            <a:spAutoFit/>
          </a:bodyPr>
          <a:lstStyle/>
          <a:p>
            <a:r>
              <a:rPr kumimoji="1" lang="ja-JP" altLang="en-US" sz="2200" b="1">
                <a:solidFill>
                  <a:srgbClr val="FFFFFF"/>
                </a:solidFill>
                <a:latin typeface="Meiryo" panose="020B0604030504040204" pitchFamily="50" charset="-128"/>
              </a:rPr>
              <a:t>既存名簿データの登録（会員名簿シート）</a:t>
            </a:r>
          </a:p>
        </p:txBody>
      </p:sp>
      <p:sp>
        <p:nvSpPr>
          <p:cNvPr id="5" name="正方形/長方形 4">
            <a:extLst>
              <a:ext uri="{FF2B5EF4-FFF2-40B4-BE49-F238E27FC236}">
                <a16:creationId xmlns:a16="http://schemas.microsoft.com/office/drawing/2014/main" id="{E68C0D39-DBAE-2E9F-E2CE-0CCBDB2CA091}"/>
              </a:ext>
            </a:extLst>
          </p:cNvPr>
          <p:cNvSpPr/>
          <p:nvPr/>
        </p:nvSpPr>
        <p:spPr>
          <a:xfrm>
            <a:off x="635000" y="1524000"/>
            <a:ext cx="10922000" cy="4572000"/>
          </a:xfrm>
          <a:prstGeom prst="rect">
            <a:avLst/>
          </a:prstGeom>
          <a:solidFill>
            <a:srgbClr val="FFFFFF"/>
          </a:solidFill>
          <a:ln>
            <a:solidFill>
              <a:srgbClr val="E1D5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350">
                <a:solidFill>
                  <a:srgbClr val="3B291E"/>
                </a:solidFill>
                <a:latin typeface="Meiryo" panose="020B0604030504040204" pitchFamily="50" charset="-128"/>
              </a:rPr>
              <a:t>「会員名簿」シートに既存の名簿データ（</a:t>
            </a:r>
            <a:r>
              <a:rPr kumimoji="1" lang="en-US" altLang="ja-JP" sz="1350">
                <a:solidFill>
                  <a:srgbClr val="3B291E"/>
                </a:solidFill>
                <a:latin typeface="Meiryo" panose="020B0604030504040204" pitchFamily="50" charset="-128"/>
              </a:rPr>
              <a:t>Excel</a:t>
            </a:r>
            <a:r>
              <a:rPr kumimoji="1" lang="ja-JP" altLang="en-US" sz="1350">
                <a:solidFill>
                  <a:srgbClr val="3B291E"/>
                </a:solidFill>
                <a:latin typeface="Meiryo" panose="020B0604030504040204" pitchFamily="50" charset="-128"/>
              </a:rPr>
              <a:t>・紙など）を入力します</a:t>
            </a:r>
            <a:r>
              <a:rPr kumimoji="1" lang="en-US" altLang="ja-JP" sz="1350">
                <a:solidFill>
                  <a:srgbClr val="3B291E"/>
                </a:solidFill>
                <a:latin typeface="Meiryo" panose="020B0604030504040204" pitchFamily="50" charset="-128"/>
              </a:rPr>
              <a:t>:
</a:t>
            </a:r>
            <a:r>
              <a:rPr kumimoji="1" lang="ja-JP" altLang="en-US" sz="1350">
                <a:solidFill>
                  <a:srgbClr val="3B291E"/>
                </a:solidFill>
                <a:latin typeface="Meiryo" panose="020B0604030504040204" pitchFamily="50" charset="-128"/>
              </a:rPr>
              <a:t>・会員</a:t>
            </a:r>
            <a:r>
              <a:rPr kumimoji="1" lang="en-US" altLang="ja-JP" sz="1350">
                <a:solidFill>
                  <a:srgbClr val="3B291E"/>
                </a:solidFill>
                <a:latin typeface="Meiryo" panose="020B0604030504040204" pitchFamily="50" charset="-128"/>
              </a:rPr>
              <a:t>ID: M001, 01-01 </a:t>
            </a:r>
            <a:r>
              <a:rPr kumimoji="1" lang="ja-JP" altLang="en-US" sz="1350">
                <a:solidFill>
                  <a:srgbClr val="3B291E"/>
                </a:solidFill>
                <a:latin typeface="Meiryo" panose="020B0604030504040204" pitchFamily="50" charset="-128"/>
              </a:rPr>
              <a:t>など重複しない半角英数字
・班</a:t>
            </a:r>
            <a:r>
              <a:rPr kumimoji="1" lang="en-US" altLang="ja-JP" sz="1350">
                <a:solidFill>
                  <a:srgbClr val="3B291E"/>
                </a:solidFill>
                <a:latin typeface="Meiryo" panose="020B0604030504040204" pitchFamily="50" charset="-128"/>
              </a:rPr>
              <a:t>: 1</a:t>
            </a:r>
            <a:r>
              <a:rPr kumimoji="1" lang="ja-JP" altLang="en-US" sz="1350">
                <a:solidFill>
                  <a:srgbClr val="3B291E"/>
                </a:solidFill>
                <a:latin typeface="Meiryo" panose="020B0604030504040204" pitchFamily="50" charset="-128"/>
              </a:rPr>
              <a:t>班</a:t>
            </a:r>
            <a:r>
              <a:rPr kumimoji="1" lang="en-US" altLang="ja-JP" sz="1350">
                <a:solidFill>
                  <a:srgbClr val="3B291E"/>
                </a:solidFill>
                <a:latin typeface="Meiryo" panose="020B0604030504040204" pitchFamily="50" charset="-128"/>
              </a:rPr>
              <a:t>, 2</a:t>
            </a:r>
            <a:r>
              <a:rPr kumimoji="1" lang="ja-JP" altLang="en-US" sz="1350">
                <a:solidFill>
                  <a:srgbClr val="3B291E"/>
                </a:solidFill>
                <a:latin typeface="Meiryo" panose="020B0604030504040204" pitchFamily="50" charset="-128"/>
              </a:rPr>
              <a:t>班など（システム設定の班名と合わせる）
・氏名 </a:t>
            </a:r>
            <a:r>
              <a:rPr kumimoji="1" lang="en-US" altLang="ja-JP" sz="1350">
                <a:solidFill>
                  <a:srgbClr val="3B291E"/>
                </a:solidFill>
                <a:latin typeface="Meiryo" panose="020B0604030504040204" pitchFamily="50" charset="-128"/>
              </a:rPr>
              <a:t>/ </a:t>
            </a:r>
            <a:r>
              <a:rPr kumimoji="1" lang="ja-JP" altLang="en-US" sz="1350">
                <a:solidFill>
                  <a:srgbClr val="3B291E"/>
                </a:solidFill>
                <a:latin typeface="Meiryo" panose="020B0604030504040204" pitchFamily="50" charset="-128"/>
              </a:rPr>
              <a:t>フリガナ</a:t>
            </a:r>
            <a:r>
              <a:rPr kumimoji="1" lang="en-US" altLang="ja-JP" sz="1350">
                <a:solidFill>
                  <a:srgbClr val="3B291E"/>
                </a:solidFill>
                <a:latin typeface="Meiryo" panose="020B0604030504040204" pitchFamily="50" charset="-128"/>
              </a:rPr>
              <a:t>: </a:t>
            </a:r>
            <a:r>
              <a:rPr kumimoji="1" lang="ja-JP" altLang="en-US" sz="1350">
                <a:solidFill>
                  <a:srgbClr val="3B291E"/>
                </a:solidFill>
                <a:latin typeface="Meiryo" panose="020B0604030504040204" pitchFamily="50" charset="-128"/>
              </a:rPr>
              <a:t>世帯主氏名
・電話番号 </a:t>
            </a:r>
            <a:r>
              <a:rPr kumimoji="1" lang="en-US" altLang="ja-JP" sz="1350">
                <a:solidFill>
                  <a:srgbClr val="3B291E"/>
                </a:solidFill>
                <a:latin typeface="Meiryo" panose="020B0604030504040204" pitchFamily="50" charset="-128"/>
              </a:rPr>
              <a:t>/ </a:t>
            </a:r>
            <a:r>
              <a:rPr kumimoji="1" lang="ja-JP" altLang="en-US" sz="1350">
                <a:solidFill>
                  <a:srgbClr val="3B291E"/>
                </a:solidFill>
                <a:latin typeface="Meiryo" panose="020B0604030504040204" pitchFamily="50" charset="-128"/>
              </a:rPr>
              <a:t>電話番号</a:t>
            </a:r>
            <a:r>
              <a:rPr kumimoji="1" lang="en-US" altLang="ja-JP" sz="1350">
                <a:solidFill>
                  <a:srgbClr val="3B291E"/>
                </a:solidFill>
                <a:latin typeface="Meiryo" panose="020B0604030504040204" pitchFamily="50" charset="-128"/>
              </a:rPr>
              <a:t>2: </a:t>
            </a:r>
            <a:r>
              <a:rPr kumimoji="1" lang="ja-JP" altLang="en-US" sz="1350">
                <a:solidFill>
                  <a:srgbClr val="3B291E"/>
                </a:solidFill>
                <a:latin typeface="Meiryo" panose="020B0604030504040204" pitchFamily="50" charset="-128"/>
              </a:rPr>
              <a:t>自宅または携帯。固定電話など。
    ⚠️ 電話番号列（</a:t>
            </a:r>
            <a:r>
              <a:rPr kumimoji="1" lang="en-US" altLang="ja-JP" sz="1350">
                <a:solidFill>
                  <a:srgbClr val="3B291E"/>
                </a:solidFill>
                <a:latin typeface="Meiryo" panose="020B0604030504040204" pitchFamily="50" charset="-128"/>
              </a:rPr>
              <a:t>E</a:t>
            </a:r>
            <a:r>
              <a:rPr kumimoji="1" lang="ja-JP" altLang="en-US" sz="1350">
                <a:solidFill>
                  <a:srgbClr val="3B291E"/>
                </a:solidFill>
                <a:latin typeface="Meiryo" panose="020B0604030504040204" pitchFamily="50" charset="-128"/>
              </a:rPr>
              <a:t>・</a:t>
            </a:r>
            <a:r>
              <a:rPr kumimoji="1" lang="en-US" altLang="ja-JP" sz="1350">
                <a:solidFill>
                  <a:srgbClr val="3B291E"/>
                </a:solidFill>
                <a:latin typeface="Meiryo" panose="020B0604030504040204" pitchFamily="50" charset="-128"/>
              </a:rPr>
              <a:t>F</a:t>
            </a:r>
            <a:r>
              <a:rPr kumimoji="1" lang="ja-JP" altLang="en-US" sz="1350">
                <a:solidFill>
                  <a:srgbClr val="3B291E"/>
                </a:solidFill>
                <a:latin typeface="Meiryo" panose="020B0604030504040204" pitchFamily="50" charset="-128"/>
              </a:rPr>
              <a:t>列）は「表示形式」＞「数字」＞「書式なしテキスト</a:t>
            </a:r>
            <a:r>
              <a:rPr kumimoji="1" lang="en-US" altLang="ja-JP" sz="1350">
                <a:solidFill>
                  <a:srgbClr val="3B291E"/>
                </a:solidFill>
                <a:latin typeface="Meiryo" panose="020B0604030504040204" pitchFamily="50" charset="-128"/>
              </a:rPr>
              <a:t>(@)</a:t>
            </a:r>
            <a:r>
              <a:rPr kumimoji="1" lang="ja-JP" altLang="en-US" sz="1350">
                <a:solidFill>
                  <a:srgbClr val="3B291E"/>
                </a:solidFill>
                <a:latin typeface="Meiryo" panose="020B0604030504040204" pitchFamily="50" charset="-128"/>
              </a:rPr>
              <a:t>」に設定してください
・住所</a:t>
            </a:r>
            <a:r>
              <a:rPr kumimoji="1" lang="en-US" altLang="ja-JP" sz="1350">
                <a:solidFill>
                  <a:srgbClr val="3B291E"/>
                </a:solidFill>
                <a:latin typeface="Meiryo" panose="020B0604030504040204" pitchFamily="50" charset="-128"/>
              </a:rPr>
              <a:t>: </a:t>
            </a:r>
            <a:r>
              <a:rPr kumimoji="1" lang="ja-JP" altLang="en-US" sz="1350">
                <a:solidFill>
                  <a:srgbClr val="3B291E"/>
                </a:solidFill>
                <a:latin typeface="Meiryo" panose="020B0604030504040204" pitchFamily="50" charset="-128"/>
              </a:rPr>
              <a:t>番地・建物名・部屋番号
・役員</a:t>
            </a:r>
            <a:r>
              <a:rPr kumimoji="1" lang="en-US" altLang="ja-JP" sz="1350">
                <a:solidFill>
                  <a:srgbClr val="3B291E"/>
                </a:solidFill>
                <a:latin typeface="Meiryo" panose="020B0604030504040204" pitchFamily="50" charset="-128"/>
              </a:rPr>
              <a:t>: </a:t>
            </a:r>
            <a:r>
              <a:rPr kumimoji="1" lang="ja-JP" altLang="en-US" sz="1350">
                <a:solidFill>
                  <a:srgbClr val="3B291E"/>
                </a:solidFill>
                <a:latin typeface="Meiryo" panose="020B0604030504040204" pitchFamily="50" charset="-128"/>
              </a:rPr>
              <a:t>一般会員</a:t>
            </a:r>
            <a:r>
              <a:rPr kumimoji="1" lang="en-US" altLang="ja-JP" sz="1350">
                <a:solidFill>
                  <a:srgbClr val="3B291E"/>
                </a:solidFill>
                <a:latin typeface="Meiryo" panose="020B0604030504040204" pitchFamily="50" charset="-128"/>
              </a:rPr>
              <a:t>, </a:t>
            </a:r>
            <a:r>
              <a:rPr kumimoji="1" lang="ja-JP" altLang="en-US" sz="1350">
                <a:solidFill>
                  <a:srgbClr val="3B291E"/>
                </a:solidFill>
                <a:latin typeface="Meiryo" panose="020B0604030504040204" pitchFamily="50" charset="-128"/>
              </a:rPr>
              <a:t>会長</a:t>
            </a:r>
            <a:r>
              <a:rPr kumimoji="1" lang="en-US" altLang="ja-JP" sz="1350">
                <a:solidFill>
                  <a:srgbClr val="3B291E"/>
                </a:solidFill>
                <a:latin typeface="Meiryo" panose="020B0604030504040204" pitchFamily="50" charset="-128"/>
              </a:rPr>
              <a:t>, </a:t>
            </a:r>
            <a:r>
              <a:rPr kumimoji="1" lang="ja-JP" altLang="en-US" sz="1350">
                <a:solidFill>
                  <a:srgbClr val="3B291E"/>
                </a:solidFill>
                <a:latin typeface="Meiryo" panose="020B0604030504040204" pitchFamily="50" charset="-128"/>
              </a:rPr>
              <a:t>会計 など（初期値</a:t>
            </a:r>
            <a:r>
              <a:rPr kumimoji="1" lang="en-US" altLang="ja-JP" sz="1350">
                <a:solidFill>
                  <a:srgbClr val="3B291E"/>
                </a:solidFill>
                <a:latin typeface="Meiryo" panose="020B0604030504040204" pitchFamily="50" charset="-128"/>
              </a:rPr>
              <a:t>: </a:t>
            </a:r>
            <a:r>
              <a:rPr kumimoji="1" lang="ja-JP" altLang="en-US" sz="1350">
                <a:solidFill>
                  <a:srgbClr val="3B291E"/>
                </a:solidFill>
                <a:latin typeface="Meiryo" panose="020B0604030504040204" pitchFamily="50" charset="-128"/>
              </a:rPr>
              <a:t>一般会員）
・班長</a:t>
            </a:r>
            <a:r>
              <a:rPr kumimoji="1" lang="en-US" altLang="ja-JP" sz="1350">
                <a:solidFill>
                  <a:srgbClr val="3B291E"/>
                </a:solidFill>
                <a:latin typeface="Meiryo" panose="020B0604030504040204" pitchFamily="50" charset="-128"/>
              </a:rPr>
              <a:t>: </a:t>
            </a:r>
            <a:r>
              <a:rPr kumimoji="1" lang="ja-JP" altLang="en-US" sz="1350">
                <a:solidFill>
                  <a:srgbClr val="3B291E"/>
                </a:solidFill>
                <a:latin typeface="Meiryo" panose="020B0604030504040204" pitchFamily="50" charset="-128"/>
              </a:rPr>
              <a:t>今年度担当者は「班長」、それ以外は「なし」
・会費状況</a:t>
            </a:r>
            <a:r>
              <a:rPr kumimoji="1" lang="en-US" altLang="ja-JP" sz="1350">
                <a:solidFill>
                  <a:srgbClr val="3B291E"/>
                </a:solidFill>
                <a:latin typeface="Meiryo" panose="020B0604030504040204" pitchFamily="50" charset="-128"/>
              </a:rPr>
              <a:t>: </a:t>
            </a:r>
            <a:r>
              <a:rPr kumimoji="1" lang="ja-JP" altLang="en-US" sz="1350">
                <a:solidFill>
                  <a:srgbClr val="3B291E"/>
                </a:solidFill>
                <a:latin typeface="Meiryo" panose="020B0604030504040204" pitchFamily="50" charset="-128"/>
              </a:rPr>
              <a:t>納入済</a:t>
            </a:r>
            <a:r>
              <a:rPr kumimoji="1" lang="en-US" altLang="ja-JP" sz="1350">
                <a:solidFill>
                  <a:srgbClr val="3B291E"/>
                </a:solidFill>
                <a:latin typeface="Meiryo" panose="020B0604030504040204" pitchFamily="50" charset="-128"/>
              </a:rPr>
              <a:t>, </a:t>
            </a:r>
            <a:r>
              <a:rPr kumimoji="1" lang="ja-JP" altLang="en-US" sz="1350">
                <a:solidFill>
                  <a:srgbClr val="3B291E"/>
                </a:solidFill>
                <a:latin typeface="Meiryo" panose="020B0604030504040204" pitchFamily="50" charset="-128"/>
              </a:rPr>
              <a:t>未納（初期値</a:t>
            </a:r>
            <a:r>
              <a:rPr kumimoji="1" lang="en-US" altLang="ja-JP" sz="1350">
                <a:solidFill>
                  <a:srgbClr val="3B291E"/>
                </a:solidFill>
                <a:latin typeface="Meiryo" panose="020B0604030504040204" pitchFamily="50" charset="-128"/>
              </a:rPr>
              <a:t>: </a:t>
            </a:r>
            <a:r>
              <a:rPr kumimoji="1" lang="ja-JP" altLang="en-US" sz="1350">
                <a:solidFill>
                  <a:srgbClr val="3B291E"/>
                </a:solidFill>
                <a:latin typeface="Meiryo" panose="020B0604030504040204" pitchFamily="50" charset="-128"/>
              </a:rPr>
              <a:t>未納）
・回覧方法</a:t>
            </a:r>
            <a:r>
              <a:rPr kumimoji="1" lang="en-US" altLang="ja-JP" sz="1350">
                <a:solidFill>
                  <a:srgbClr val="3B291E"/>
                </a:solidFill>
                <a:latin typeface="Meiryo" panose="020B0604030504040204" pitchFamily="50" charset="-128"/>
              </a:rPr>
              <a:t>: LINE, </a:t>
            </a:r>
            <a:r>
              <a:rPr kumimoji="1" lang="ja-JP" altLang="en-US" sz="1350">
                <a:solidFill>
                  <a:srgbClr val="3B291E"/>
                </a:solidFill>
                <a:latin typeface="Meiryo" panose="020B0604030504040204" pitchFamily="50" charset="-128"/>
              </a:rPr>
              <a:t>紙（初期値</a:t>
            </a:r>
            <a:r>
              <a:rPr kumimoji="1" lang="en-US" altLang="ja-JP" sz="1350">
                <a:solidFill>
                  <a:srgbClr val="3B291E"/>
                </a:solidFill>
                <a:latin typeface="Meiryo" panose="020B0604030504040204" pitchFamily="50" charset="-128"/>
              </a:rPr>
              <a:t>: </a:t>
            </a:r>
            <a:r>
              <a:rPr kumimoji="1" lang="ja-JP" altLang="en-US" sz="1350">
                <a:solidFill>
                  <a:srgbClr val="3B291E"/>
                </a:solidFill>
                <a:latin typeface="Meiryo" panose="020B0604030504040204" pitchFamily="50" charset="-128"/>
              </a:rPr>
              <a:t>紙）
・会員状態</a:t>
            </a:r>
            <a:r>
              <a:rPr kumimoji="1" lang="en-US" altLang="ja-JP" sz="1350">
                <a:solidFill>
                  <a:srgbClr val="3B291E"/>
                </a:solidFill>
                <a:latin typeface="Meiryo" panose="020B0604030504040204" pitchFamily="50" charset="-128"/>
              </a:rPr>
              <a:t>: </a:t>
            </a:r>
            <a:r>
              <a:rPr kumimoji="1" lang="ja-JP" altLang="en-US" sz="1350">
                <a:solidFill>
                  <a:srgbClr val="3B291E"/>
                </a:solidFill>
                <a:latin typeface="Meiryo" panose="020B0604030504040204" pitchFamily="50" charset="-128"/>
              </a:rPr>
              <a:t>現役</a:t>
            </a:r>
            <a:r>
              <a:rPr kumimoji="1" lang="en-US" altLang="ja-JP" sz="1350">
                <a:solidFill>
                  <a:srgbClr val="3B291E"/>
                </a:solidFill>
                <a:latin typeface="Meiryo" panose="020B0604030504040204" pitchFamily="50" charset="-128"/>
              </a:rPr>
              <a:t>, </a:t>
            </a:r>
            <a:r>
              <a:rPr kumimoji="1" lang="ja-JP" altLang="en-US" sz="1350">
                <a:solidFill>
                  <a:srgbClr val="3B291E"/>
                </a:solidFill>
                <a:latin typeface="Meiryo" panose="020B0604030504040204" pitchFamily="50" charset="-128"/>
              </a:rPr>
              <a:t>休会</a:t>
            </a:r>
            <a:r>
              <a:rPr kumimoji="1" lang="en-US" altLang="ja-JP" sz="1350">
                <a:solidFill>
                  <a:srgbClr val="3B291E"/>
                </a:solidFill>
                <a:latin typeface="Meiryo" panose="020B0604030504040204" pitchFamily="50" charset="-128"/>
              </a:rPr>
              <a:t>, </a:t>
            </a:r>
            <a:r>
              <a:rPr kumimoji="1" lang="ja-JP" altLang="en-US" sz="1350">
                <a:solidFill>
                  <a:srgbClr val="3B291E"/>
                </a:solidFill>
                <a:latin typeface="Meiryo" panose="020B0604030504040204" pitchFamily="50" charset="-128"/>
              </a:rPr>
              <a:t>転出退会（通常は「現役」）</a:t>
            </a:r>
          </a:p>
        </p:txBody>
      </p:sp>
    </p:spTree>
    <p:extLst>
      <p:ext uri="{BB962C8B-B14F-4D97-AF65-F5344CB8AC3E}">
        <p14:creationId xmlns:p14="http://schemas.microsoft.com/office/powerpoint/2010/main" val="10282032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DF9C8DE0-170F-E571-1DA5-09C61D768F60}"/>
              </a:ext>
            </a:extLst>
          </p:cNvPr>
          <p:cNvSpPr/>
          <p:nvPr/>
        </p:nvSpPr>
        <p:spPr>
          <a:xfrm>
            <a:off x="0" y="0"/>
            <a:ext cx="12192000" cy="1016000"/>
          </a:xfrm>
          <a:prstGeom prst="rect">
            <a:avLst/>
          </a:prstGeom>
          <a:solidFill>
            <a:srgbClr val="1E3A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4E9D0345-0E10-F2CF-0715-14A0880738C1}"/>
              </a:ext>
            </a:extLst>
          </p:cNvPr>
          <p:cNvSpPr txBox="1"/>
          <p:nvPr/>
        </p:nvSpPr>
        <p:spPr>
          <a:xfrm>
            <a:off x="508000" y="127000"/>
            <a:ext cx="3810000" cy="276999"/>
          </a:xfrm>
          <a:prstGeom prst="rect">
            <a:avLst/>
          </a:prstGeom>
          <a:noFill/>
        </p:spPr>
        <p:txBody>
          <a:bodyPr vert="horz" rtlCol="0">
            <a:spAutoFit/>
          </a:bodyPr>
          <a:lstStyle/>
          <a:p>
            <a:r>
              <a:rPr kumimoji="1" lang="en-US" altLang="ja-JP" sz="1200" b="1">
                <a:solidFill>
                  <a:srgbClr val="10B981"/>
                </a:solidFill>
                <a:latin typeface="Meiryo" panose="020B0604030504040204" pitchFamily="50" charset="-128"/>
              </a:rPr>
              <a:t>STEP 7</a:t>
            </a:r>
            <a:endParaRPr kumimoji="1" lang="ja-JP" altLang="en-US" sz="1200" b="1">
              <a:solidFill>
                <a:srgbClr val="10B981"/>
              </a:solidFill>
              <a:latin typeface="Meiryo" panose="020B0604030504040204" pitchFamily="50" charset="-128"/>
            </a:endParaRPr>
          </a:p>
        </p:txBody>
      </p:sp>
      <p:sp>
        <p:nvSpPr>
          <p:cNvPr id="4" name="テキスト ボックス 3">
            <a:extLst>
              <a:ext uri="{FF2B5EF4-FFF2-40B4-BE49-F238E27FC236}">
                <a16:creationId xmlns:a16="http://schemas.microsoft.com/office/drawing/2014/main" id="{EBBBB5F1-965C-2EDC-BD46-4088C6C66856}"/>
              </a:ext>
            </a:extLst>
          </p:cNvPr>
          <p:cNvSpPr txBox="1"/>
          <p:nvPr/>
        </p:nvSpPr>
        <p:spPr>
          <a:xfrm>
            <a:off x="508000" y="381000"/>
            <a:ext cx="11176000" cy="430887"/>
          </a:xfrm>
          <a:prstGeom prst="rect">
            <a:avLst/>
          </a:prstGeom>
          <a:noFill/>
        </p:spPr>
        <p:txBody>
          <a:bodyPr vert="horz" rtlCol="0">
            <a:spAutoFit/>
          </a:bodyPr>
          <a:lstStyle/>
          <a:p>
            <a:r>
              <a:rPr kumimoji="1" lang="en-US" altLang="ja-JP" sz="2200" b="1">
                <a:solidFill>
                  <a:srgbClr val="FFFFFF"/>
                </a:solidFill>
                <a:latin typeface="Meiryo" panose="020B0604030504040204" pitchFamily="50" charset="-128"/>
              </a:rPr>
              <a:t>Google</a:t>
            </a:r>
            <a:r>
              <a:rPr kumimoji="1" lang="ja-JP" altLang="en-US" sz="2200" b="1">
                <a:solidFill>
                  <a:srgbClr val="FFFFFF"/>
                </a:solidFill>
                <a:latin typeface="Meiryo" panose="020B0604030504040204" pitchFamily="50" charset="-128"/>
              </a:rPr>
              <a:t>フォーム入会申込との連携（オンライン受付）</a:t>
            </a:r>
          </a:p>
        </p:txBody>
      </p:sp>
      <p:sp>
        <p:nvSpPr>
          <p:cNvPr id="5" name="正方形/長方形 4">
            <a:extLst>
              <a:ext uri="{FF2B5EF4-FFF2-40B4-BE49-F238E27FC236}">
                <a16:creationId xmlns:a16="http://schemas.microsoft.com/office/drawing/2014/main" id="{94D59456-8C43-6A92-42BB-B33D3EAB4502}"/>
              </a:ext>
            </a:extLst>
          </p:cNvPr>
          <p:cNvSpPr/>
          <p:nvPr/>
        </p:nvSpPr>
        <p:spPr>
          <a:xfrm>
            <a:off x="635000" y="1524000"/>
            <a:ext cx="10922000" cy="4572000"/>
          </a:xfrm>
          <a:prstGeom prst="rect">
            <a:avLst/>
          </a:prstGeom>
          <a:solidFill>
            <a:srgbClr val="FFFFFF"/>
          </a:solidFill>
          <a:ln>
            <a:solidFill>
              <a:srgbClr val="E1D5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350">
                <a:solidFill>
                  <a:srgbClr val="3B291E"/>
                </a:solidFill>
                <a:latin typeface="Meiryo" panose="020B0604030504040204" pitchFamily="50" charset="-128"/>
              </a:rPr>
              <a:t>新住民の入会受付をペーパーレス化できます</a:t>
            </a:r>
            <a:r>
              <a:rPr kumimoji="1" lang="en-US" altLang="ja-JP" sz="1350">
                <a:solidFill>
                  <a:srgbClr val="3B291E"/>
                </a:solidFill>
                <a:latin typeface="Meiryo" panose="020B0604030504040204" pitchFamily="50" charset="-128"/>
              </a:rPr>
              <a:t>:
1. Google</a:t>
            </a:r>
            <a:r>
              <a:rPr kumimoji="1" lang="ja-JP" altLang="en-US" sz="1350">
                <a:solidFill>
                  <a:srgbClr val="3B291E"/>
                </a:solidFill>
                <a:latin typeface="Meiryo" panose="020B0604030504040204" pitchFamily="50" charset="-128"/>
              </a:rPr>
              <a:t>フォームを作成
   ・設問</a:t>
            </a:r>
            <a:r>
              <a:rPr kumimoji="1" lang="en-US" altLang="ja-JP" sz="1350">
                <a:solidFill>
                  <a:srgbClr val="3B291E"/>
                </a:solidFill>
                <a:latin typeface="Meiryo" panose="020B0604030504040204" pitchFamily="50" charset="-128"/>
              </a:rPr>
              <a:t>: </a:t>
            </a:r>
            <a:r>
              <a:rPr kumimoji="1" lang="ja-JP" altLang="en-US" sz="1350">
                <a:solidFill>
                  <a:srgbClr val="3B291E"/>
                </a:solidFill>
                <a:latin typeface="Meiryo" panose="020B0604030504040204" pitchFamily="50" charset="-128"/>
              </a:rPr>
              <a:t>氏名、フリガナ、住所、電話番号、メール、入会希望</a:t>
            </a:r>
            <a:r>
              <a:rPr kumimoji="1" lang="en-US" altLang="ja-JP" sz="1350">
                <a:solidFill>
                  <a:srgbClr val="3B291E"/>
                </a:solidFill>
                <a:latin typeface="Meiryo" panose="020B0604030504040204" pitchFamily="50" charset="-128"/>
              </a:rPr>
              <a:t>(</a:t>
            </a:r>
            <a:r>
              <a:rPr kumimoji="1" lang="ja-JP" altLang="en-US" sz="1350">
                <a:solidFill>
                  <a:srgbClr val="3B291E"/>
                </a:solidFill>
                <a:latin typeface="Meiryo" panose="020B0604030504040204" pitchFamily="50" charset="-128"/>
              </a:rPr>
              <a:t>年・月</a:t>
            </a:r>
            <a:r>
              <a:rPr kumimoji="1" lang="en-US" altLang="ja-JP" sz="1350">
                <a:solidFill>
                  <a:srgbClr val="3B291E"/>
                </a:solidFill>
                <a:latin typeface="Meiryo" panose="020B0604030504040204" pitchFamily="50" charset="-128"/>
              </a:rPr>
              <a:t>)</a:t>
            </a:r>
            <a:r>
              <a:rPr kumimoji="1" lang="ja-JP" altLang="en-US" sz="1350">
                <a:solidFill>
                  <a:srgbClr val="3B291E"/>
                </a:solidFill>
                <a:latin typeface="Meiryo" panose="020B0604030504040204" pitchFamily="50" charset="-128"/>
              </a:rPr>
              <a:t>、回覧板受け取り方法など。
</a:t>
            </a:r>
            <a:r>
              <a:rPr kumimoji="1" lang="en-US" altLang="ja-JP" sz="1350">
                <a:solidFill>
                  <a:srgbClr val="3B291E"/>
                </a:solidFill>
                <a:latin typeface="Meiryo" panose="020B0604030504040204" pitchFamily="50" charset="-128"/>
              </a:rPr>
              <a:t>2. </a:t>
            </a:r>
            <a:r>
              <a:rPr kumimoji="1" lang="ja-JP" altLang="en-US" sz="1350">
                <a:solidFill>
                  <a:srgbClr val="3B291E"/>
                </a:solidFill>
                <a:latin typeface="Meiryo" panose="020B0604030504040204" pitchFamily="50" charset="-128"/>
              </a:rPr>
              <a:t>フォームの回答先を名簿スプレッドシートに紐付け
   ・フォームの「回答」タブ ＞「スプレッドシートにリンク」で本シートを選択。
   ・自動追加された「フォームの回答 </a:t>
            </a:r>
            <a:r>
              <a:rPr kumimoji="1" lang="en-US" altLang="ja-JP" sz="1350">
                <a:solidFill>
                  <a:srgbClr val="3B291E"/>
                </a:solidFill>
                <a:latin typeface="Meiryo" panose="020B0604030504040204" pitchFamily="50" charset="-128"/>
              </a:rPr>
              <a:t>1</a:t>
            </a:r>
            <a:r>
              <a:rPr kumimoji="1" lang="ja-JP" altLang="en-US" sz="1350">
                <a:solidFill>
                  <a:srgbClr val="3B291E"/>
                </a:solidFill>
                <a:latin typeface="Meiryo" panose="020B0604030504040204" pitchFamily="50" charset="-128"/>
              </a:rPr>
              <a:t>」シートのヘッダー末尾に「ステータス」列を追加。
</a:t>
            </a:r>
            <a:r>
              <a:rPr kumimoji="1" lang="en-US" altLang="ja-JP" sz="1350">
                <a:solidFill>
                  <a:srgbClr val="3B291E"/>
                </a:solidFill>
                <a:latin typeface="Meiryo" panose="020B0604030504040204" pitchFamily="50" charset="-128"/>
              </a:rPr>
              <a:t>3. Web</a:t>
            </a:r>
            <a:r>
              <a:rPr kumimoji="1" lang="ja-JP" altLang="en-US" sz="1350">
                <a:solidFill>
                  <a:srgbClr val="3B291E"/>
                </a:solidFill>
                <a:latin typeface="Meiryo" panose="020B0604030504040204" pitchFamily="50" charset="-128"/>
              </a:rPr>
              <a:t>アプリで自動受付 </a:t>
            </a:r>
            <a:r>
              <a:rPr kumimoji="1" lang="en-US" altLang="ja-JP" sz="1350">
                <a:solidFill>
                  <a:srgbClr val="3B291E"/>
                </a:solidFill>
                <a:latin typeface="Meiryo" panose="020B0604030504040204" pitchFamily="50" charset="-128"/>
              </a:rPr>
              <a:t>&amp; 1</a:t>
            </a:r>
            <a:r>
              <a:rPr kumimoji="1" lang="ja-JP" altLang="en-US" sz="1350">
                <a:solidFill>
                  <a:srgbClr val="3B291E"/>
                </a:solidFill>
                <a:latin typeface="Meiryo" panose="020B0604030504040204" pitchFamily="50" charset="-128"/>
              </a:rPr>
              <a:t>クリック名簿追加！
   ・住民がフォーム送信すると、</a:t>
            </a:r>
            <a:r>
              <a:rPr kumimoji="1" lang="en-US" altLang="ja-JP" sz="1350">
                <a:solidFill>
                  <a:srgbClr val="3B291E"/>
                </a:solidFill>
                <a:latin typeface="Meiryo" panose="020B0604030504040204" pitchFamily="50" charset="-128"/>
              </a:rPr>
              <a:t>Web</a:t>
            </a:r>
            <a:r>
              <a:rPr kumimoji="1" lang="ja-JP" altLang="en-US" sz="1350">
                <a:solidFill>
                  <a:srgbClr val="3B291E"/>
                </a:solidFill>
                <a:latin typeface="Meiryo" panose="020B0604030504040204" pitchFamily="50" charset="-128"/>
              </a:rPr>
              <a:t>アプリの「📝 入会申請受付」タブに自動反映。
   ・役員が「承認して名簿に追加」ボタンを押すだけで、班や役職を決めて正式名簿へ追加されます！</a:t>
            </a:r>
          </a:p>
        </p:txBody>
      </p:sp>
    </p:spTree>
    <p:extLst>
      <p:ext uri="{BB962C8B-B14F-4D97-AF65-F5344CB8AC3E}">
        <p14:creationId xmlns:p14="http://schemas.microsoft.com/office/powerpoint/2010/main" val="7126681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DDD10ECE-5E2A-4F2E-A5B8-FFED22556B0D}"/>
              </a:ext>
            </a:extLst>
          </p:cNvPr>
          <p:cNvSpPr/>
          <p:nvPr/>
        </p:nvSpPr>
        <p:spPr>
          <a:xfrm>
            <a:off x="0" y="0"/>
            <a:ext cx="12192000" cy="1016000"/>
          </a:xfrm>
          <a:prstGeom prst="rect">
            <a:avLst/>
          </a:prstGeom>
          <a:solidFill>
            <a:srgbClr val="1E3A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1661BDED-A87C-4727-F55F-04468BBB2643}"/>
              </a:ext>
            </a:extLst>
          </p:cNvPr>
          <p:cNvSpPr txBox="1"/>
          <p:nvPr/>
        </p:nvSpPr>
        <p:spPr>
          <a:xfrm>
            <a:off x="508000" y="127000"/>
            <a:ext cx="3810000" cy="276999"/>
          </a:xfrm>
          <a:prstGeom prst="rect">
            <a:avLst/>
          </a:prstGeom>
          <a:noFill/>
        </p:spPr>
        <p:txBody>
          <a:bodyPr vert="horz" rtlCol="0">
            <a:spAutoFit/>
          </a:bodyPr>
          <a:lstStyle/>
          <a:p>
            <a:r>
              <a:rPr kumimoji="1" lang="ja-JP" altLang="en-US" sz="1200" b="1">
                <a:solidFill>
                  <a:srgbClr val="10B981"/>
                </a:solidFill>
                <a:latin typeface="Meiryo" panose="020B0604030504040204" pitchFamily="50" charset="-128"/>
              </a:rPr>
              <a:t>安心運用</a:t>
            </a:r>
          </a:p>
        </p:txBody>
      </p:sp>
      <p:sp>
        <p:nvSpPr>
          <p:cNvPr id="4" name="テキスト ボックス 3">
            <a:extLst>
              <a:ext uri="{FF2B5EF4-FFF2-40B4-BE49-F238E27FC236}">
                <a16:creationId xmlns:a16="http://schemas.microsoft.com/office/drawing/2014/main" id="{BE9BF488-50C4-A593-ED80-1113056D6C8D}"/>
              </a:ext>
            </a:extLst>
          </p:cNvPr>
          <p:cNvSpPr txBox="1"/>
          <p:nvPr/>
        </p:nvSpPr>
        <p:spPr>
          <a:xfrm>
            <a:off x="508000" y="381000"/>
            <a:ext cx="11176000" cy="430887"/>
          </a:xfrm>
          <a:prstGeom prst="rect">
            <a:avLst/>
          </a:prstGeom>
          <a:noFill/>
        </p:spPr>
        <p:txBody>
          <a:bodyPr vert="horz" rtlCol="0">
            <a:spAutoFit/>
          </a:bodyPr>
          <a:lstStyle/>
          <a:p>
            <a:r>
              <a:rPr kumimoji="1" lang="ja-JP" altLang="en-US" sz="2200" b="1">
                <a:solidFill>
                  <a:srgbClr val="FFFFFF"/>
                </a:solidFill>
                <a:latin typeface="Meiryo" panose="020B0604030504040204" pitchFamily="50" charset="-128"/>
              </a:rPr>
              <a:t>セキュリティと運用のポイント</a:t>
            </a:r>
          </a:p>
        </p:txBody>
      </p:sp>
      <p:sp>
        <p:nvSpPr>
          <p:cNvPr id="5" name="正方形/長方形 4">
            <a:extLst>
              <a:ext uri="{FF2B5EF4-FFF2-40B4-BE49-F238E27FC236}">
                <a16:creationId xmlns:a16="http://schemas.microsoft.com/office/drawing/2014/main" id="{06BE1997-4D66-D6CC-390C-D50EFBE75F1A}"/>
              </a:ext>
            </a:extLst>
          </p:cNvPr>
          <p:cNvSpPr/>
          <p:nvPr/>
        </p:nvSpPr>
        <p:spPr>
          <a:xfrm>
            <a:off x="635000" y="1524000"/>
            <a:ext cx="10922000" cy="4572000"/>
          </a:xfrm>
          <a:prstGeom prst="rect">
            <a:avLst/>
          </a:prstGeom>
          <a:solidFill>
            <a:srgbClr val="FFFFFF"/>
          </a:solidFill>
          <a:ln>
            <a:solidFill>
              <a:srgbClr val="E1D5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300">
                <a:solidFill>
                  <a:srgbClr val="3B291E"/>
                </a:solidFill>
                <a:latin typeface="Meiryo" panose="020B0604030504040204" pitchFamily="50" charset="-128"/>
              </a:rPr>
              <a:t>Q1. </a:t>
            </a:r>
            <a:r>
              <a:rPr kumimoji="1" lang="ja-JP" altLang="en-US" sz="1300">
                <a:solidFill>
                  <a:srgbClr val="3B291E"/>
                </a:solidFill>
                <a:latin typeface="Meiryo" panose="020B0604030504040204" pitchFamily="50" charset="-128"/>
              </a:rPr>
              <a:t>個人情報はどこに保存されますか？
    ➜ 貴自治体の</a:t>
            </a:r>
            <a:r>
              <a:rPr kumimoji="1" lang="en-US" altLang="ja-JP" sz="1300">
                <a:solidFill>
                  <a:srgbClr val="3B291E"/>
                </a:solidFill>
                <a:latin typeface="Meiryo" panose="020B0604030504040204" pitchFamily="50" charset="-128"/>
              </a:rPr>
              <a:t>Google</a:t>
            </a:r>
            <a:r>
              <a:rPr kumimoji="1" lang="ja-JP" altLang="en-US" sz="1300">
                <a:solidFill>
                  <a:srgbClr val="3B291E"/>
                </a:solidFill>
                <a:latin typeface="Meiryo" panose="020B0604030504040204" pitchFamily="50" charset="-128"/>
              </a:rPr>
              <a:t>スプレッドシート内のみに保存されます。共通アプリ側には一切データは保管されません。
</a:t>
            </a:r>
            <a:r>
              <a:rPr kumimoji="1" lang="en-US" altLang="ja-JP" sz="1300">
                <a:solidFill>
                  <a:srgbClr val="3B291E"/>
                </a:solidFill>
                <a:latin typeface="Meiryo" panose="020B0604030504040204" pitchFamily="50" charset="-128"/>
              </a:rPr>
              <a:t>Q2. </a:t>
            </a:r>
            <a:r>
              <a:rPr kumimoji="1" lang="ja-JP" altLang="en-US" sz="1300">
                <a:solidFill>
                  <a:srgbClr val="3B291E"/>
                </a:solidFill>
                <a:latin typeface="Meiryo" panose="020B0604030504040204" pitchFamily="50" charset="-128"/>
              </a:rPr>
              <a:t>一般役員や班長には何を伝えればいいですか？
    ➜ 以下の</a:t>
            </a:r>
            <a:r>
              <a:rPr kumimoji="1" lang="en-US" altLang="ja-JP" sz="1300">
                <a:solidFill>
                  <a:srgbClr val="3B291E"/>
                </a:solidFill>
                <a:latin typeface="Meiryo" panose="020B0604030504040204" pitchFamily="50" charset="-128"/>
              </a:rPr>
              <a:t>3</a:t>
            </a:r>
            <a:r>
              <a:rPr kumimoji="1" lang="ja-JP" altLang="en-US" sz="1300">
                <a:solidFill>
                  <a:srgbClr val="3B291E"/>
                </a:solidFill>
                <a:latin typeface="Meiryo" panose="020B0604030504040204" pitchFamily="50" charset="-128"/>
              </a:rPr>
              <a:t>点のみを</a:t>
            </a:r>
            <a:r>
              <a:rPr kumimoji="1" lang="en-US" altLang="ja-JP" sz="1300">
                <a:solidFill>
                  <a:srgbClr val="3B291E"/>
                </a:solidFill>
                <a:latin typeface="Meiryo" panose="020B0604030504040204" pitchFamily="50" charset="-128"/>
              </a:rPr>
              <a:t>LINE</a:t>
            </a:r>
            <a:r>
              <a:rPr kumimoji="1" lang="ja-JP" altLang="en-US" sz="1300">
                <a:solidFill>
                  <a:srgbClr val="3B291E"/>
                </a:solidFill>
                <a:latin typeface="Meiryo" panose="020B0604030504040204" pitchFamily="50" charset="-128"/>
              </a:rPr>
              <a:t>や書面で共有します</a:t>
            </a:r>
            <a:r>
              <a:rPr kumimoji="1" lang="en-US" altLang="ja-JP" sz="1300">
                <a:solidFill>
                  <a:srgbClr val="3B291E"/>
                </a:solidFill>
                <a:latin typeface="Meiryo" panose="020B0604030504040204" pitchFamily="50" charset="-128"/>
              </a:rPr>
              <a:t>:
       ① </a:t>
            </a:r>
            <a:r>
              <a:rPr kumimoji="1" lang="ja-JP" altLang="en-US" sz="1300">
                <a:solidFill>
                  <a:srgbClr val="3B291E"/>
                </a:solidFill>
                <a:latin typeface="Meiryo" panose="020B0604030504040204" pitchFamily="50" charset="-128"/>
              </a:rPr>
              <a:t>アプリ</a:t>
            </a:r>
            <a:r>
              <a:rPr kumimoji="1" lang="en-US" altLang="ja-JP" sz="1300">
                <a:solidFill>
                  <a:srgbClr val="3B291E"/>
                </a:solidFill>
                <a:latin typeface="Meiryo" panose="020B0604030504040204" pitchFamily="50" charset="-128"/>
              </a:rPr>
              <a:t>URL (https://jack91709991-stack.github.io/community-roster/)
       ② </a:t>
            </a:r>
            <a:r>
              <a:rPr kumimoji="1" lang="ja-JP" altLang="en-US" sz="1300">
                <a:solidFill>
                  <a:srgbClr val="3B291E"/>
                </a:solidFill>
                <a:latin typeface="Meiryo" panose="020B0604030504040204" pitchFamily="50" charset="-128"/>
              </a:rPr>
              <a:t>役員合言葉 </a:t>
            </a:r>
            <a:r>
              <a:rPr kumimoji="1" lang="en-US" altLang="ja-JP" sz="1300">
                <a:solidFill>
                  <a:srgbClr val="3B291E"/>
                </a:solidFill>
                <a:latin typeface="Meiryo" panose="020B0604030504040204" pitchFamily="50" charset="-128"/>
              </a:rPr>
              <a:t>(</a:t>
            </a:r>
            <a:r>
              <a:rPr kumimoji="1" lang="ja-JP" altLang="en-US" sz="1300">
                <a:solidFill>
                  <a:srgbClr val="3B291E"/>
                </a:solidFill>
                <a:latin typeface="Meiryo" panose="020B0604030504040204" pitchFamily="50" charset="-128"/>
              </a:rPr>
              <a:t>例</a:t>
            </a:r>
            <a:r>
              <a:rPr kumimoji="1" lang="en-US" altLang="ja-JP" sz="1300">
                <a:solidFill>
                  <a:srgbClr val="3B291E"/>
                </a:solidFill>
                <a:latin typeface="Meiryo" panose="020B0604030504040204" pitchFamily="50" charset="-128"/>
              </a:rPr>
              <a:t>: sakura2026)
       ③ GAS</a:t>
            </a:r>
            <a:r>
              <a:rPr kumimoji="1" lang="ja-JP" altLang="en-US" sz="1300">
                <a:solidFill>
                  <a:srgbClr val="3B291E"/>
                </a:solidFill>
                <a:latin typeface="Meiryo" panose="020B0604030504040204" pitchFamily="50" charset="-128"/>
              </a:rPr>
              <a:t>連携</a:t>
            </a:r>
            <a:r>
              <a:rPr kumimoji="1" lang="en-US" altLang="ja-JP" sz="1300">
                <a:solidFill>
                  <a:srgbClr val="3B291E"/>
                </a:solidFill>
                <a:latin typeface="Meiryo" panose="020B0604030504040204" pitchFamily="50" charset="-128"/>
              </a:rPr>
              <a:t>URL (https://script.google.com/macros/s/.../exec)
Q3. </a:t>
            </a:r>
            <a:r>
              <a:rPr kumimoji="1" lang="ja-JP" altLang="en-US" sz="1300">
                <a:solidFill>
                  <a:srgbClr val="3B291E"/>
                </a:solidFill>
                <a:latin typeface="Meiryo" panose="020B0604030504040204" pitchFamily="50" charset="-128"/>
              </a:rPr>
              <a:t>バックアップはどうすればいいですか？
    ➜ スプレッドシートの「ファイル」＞「ダウンロード」＞「</a:t>
            </a:r>
            <a:r>
              <a:rPr kumimoji="1" lang="en-US" altLang="ja-JP" sz="1300">
                <a:solidFill>
                  <a:srgbClr val="3B291E"/>
                </a:solidFill>
                <a:latin typeface="Meiryo" panose="020B0604030504040204" pitchFamily="50" charset="-128"/>
              </a:rPr>
              <a:t>Excel (.xlsx)</a:t>
            </a:r>
            <a:r>
              <a:rPr kumimoji="1" lang="ja-JP" altLang="en-US" sz="1300">
                <a:solidFill>
                  <a:srgbClr val="3B291E"/>
                </a:solidFill>
                <a:latin typeface="Meiryo" panose="020B0604030504040204" pitchFamily="50" charset="-128"/>
              </a:rPr>
              <a:t>」でパソコンにローカル保存できます。
</a:t>
            </a:r>
            <a:r>
              <a:rPr kumimoji="1" lang="en-US" altLang="ja-JP" sz="1300">
                <a:solidFill>
                  <a:srgbClr val="3B291E"/>
                </a:solidFill>
                <a:latin typeface="Meiryo" panose="020B0604030504040204" pitchFamily="50" charset="-128"/>
              </a:rPr>
              <a:t>Q4. </a:t>
            </a:r>
            <a:r>
              <a:rPr kumimoji="1" lang="ja-JP" altLang="en-US" sz="1300">
                <a:solidFill>
                  <a:srgbClr val="3B291E"/>
                </a:solidFill>
                <a:latin typeface="Meiryo" panose="020B0604030504040204" pitchFamily="50" charset="-128"/>
              </a:rPr>
              <a:t>役員交代時は？
    ➜ スプレッドシートの「システム設定」で合言葉を新年度のものに変えるだけで旧役員のアクセスを遮断できます。</a:t>
            </a:r>
          </a:p>
        </p:txBody>
      </p:sp>
    </p:spTree>
    <p:extLst>
      <p:ext uri="{BB962C8B-B14F-4D97-AF65-F5344CB8AC3E}">
        <p14:creationId xmlns:p14="http://schemas.microsoft.com/office/powerpoint/2010/main" val="421275045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1807</Words>
  <Application>Microsoft Office PowerPoint</Application>
  <PresentationFormat>ユーザー設定</PresentationFormat>
  <Paragraphs>42</Paragraphs>
  <Slides>11</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11</vt:i4>
      </vt:variant>
    </vt:vector>
  </HeadingPairs>
  <TitlesOfParts>
    <vt:vector size="16" baseType="lpstr">
      <vt:lpstr>Meiryo</vt: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伊藤　大輔</dc:creator>
  <cp:lastModifiedBy>伊藤　大輔</cp:lastModifiedBy>
  <cp:revision>1</cp:revision>
  <dcterms:created xsi:type="dcterms:W3CDTF">2026-10-03T02:33:57Z</dcterms:created>
  <dcterms:modified xsi:type="dcterms:W3CDTF">2026-10-03T02:33:57Z</dcterms:modified>
</cp:coreProperties>
</file>